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2" r:id="rId1"/>
  </p:sldMasterIdLst>
  <p:notesMasterIdLst>
    <p:notesMasterId r:id="rId27"/>
  </p:notesMasterIdLst>
  <p:sldIdLst>
    <p:sldId id="286" r:id="rId2"/>
    <p:sldId id="284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88" r:id="rId16"/>
    <p:sldId id="274" r:id="rId17"/>
    <p:sldId id="275" r:id="rId18"/>
    <p:sldId id="289" r:id="rId19"/>
    <p:sldId id="287" r:id="rId20"/>
    <p:sldId id="268" r:id="rId21"/>
    <p:sldId id="269" r:id="rId22"/>
    <p:sldId id="271" r:id="rId23"/>
    <p:sldId id="273" r:id="rId24"/>
    <p:sldId id="290" r:id="rId25"/>
    <p:sldId id="291" r:id="rId26"/>
  </p:sldIdLst>
  <p:sldSz cx="10693400" cy="7556500"/>
  <p:notesSz cx="10693400" cy="7556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387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ADC42E-D92D-4CE3-B515-AB4674633F0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3530723-DC20-49DC-BDF1-C327B49DB98B}">
      <dgm:prSet phldrT="[Text]" phldr="0"/>
      <dgm:spPr/>
      <dgm:t>
        <a:bodyPr/>
        <a:lstStyle/>
        <a:p>
          <a:r>
            <a:rPr lang="en-IN" dirty="0"/>
            <a:t>Agenda</a:t>
          </a:r>
        </a:p>
      </dgm:t>
    </dgm:pt>
    <dgm:pt modelId="{0EA4A2A1-619F-4294-9CC4-83E8E77830BF}" type="parTrans" cxnId="{0A1E4A40-68AC-4739-A954-81089F741E9D}">
      <dgm:prSet/>
      <dgm:spPr/>
      <dgm:t>
        <a:bodyPr/>
        <a:lstStyle/>
        <a:p>
          <a:endParaRPr lang="en-IN"/>
        </a:p>
      </dgm:t>
    </dgm:pt>
    <dgm:pt modelId="{3FA4A193-E0A3-407D-8D9A-10FCCD2B83EF}" type="sibTrans" cxnId="{0A1E4A40-68AC-4739-A954-81089F741E9D}">
      <dgm:prSet/>
      <dgm:spPr/>
      <dgm:t>
        <a:bodyPr/>
        <a:lstStyle/>
        <a:p>
          <a:endParaRPr lang="en-IN"/>
        </a:p>
      </dgm:t>
    </dgm:pt>
    <dgm:pt modelId="{F64EA2F3-7A8A-4B5C-A27E-904CC36C0052}">
      <dgm:prSet phldrT="[Text]" phldr="0"/>
      <dgm:spPr/>
      <dgm:t>
        <a:bodyPr/>
        <a:lstStyle/>
        <a:p>
          <a:r>
            <a:rPr lang="en-IN" dirty="0"/>
            <a:t>LLM basics</a:t>
          </a:r>
        </a:p>
      </dgm:t>
    </dgm:pt>
    <dgm:pt modelId="{1EEE81C5-E419-48FD-AA09-D0F58960F02F}" type="parTrans" cxnId="{7BAEC7B0-0DFE-47DD-8832-7FF4FC94EEFA}">
      <dgm:prSet/>
      <dgm:spPr/>
      <dgm:t>
        <a:bodyPr/>
        <a:lstStyle/>
        <a:p>
          <a:endParaRPr lang="en-IN"/>
        </a:p>
      </dgm:t>
    </dgm:pt>
    <dgm:pt modelId="{5605F245-2853-46A7-ABDF-EBA52EDDFEA4}" type="sibTrans" cxnId="{7BAEC7B0-0DFE-47DD-8832-7FF4FC94EEFA}">
      <dgm:prSet/>
      <dgm:spPr/>
      <dgm:t>
        <a:bodyPr/>
        <a:lstStyle/>
        <a:p>
          <a:endParaRPr lang="en-IN"/>
        </a:p>
      </dgm:t>
    </dgm:pt>
    <dgm:pt modelId="{58FF1EB6-6C60-4BBD-9CE1-6FAD096653AB}">
      <dgm:prSet phldrT="[Text]" phldr="0"/>
      <dgm:spPr/>
      <dgm:t>
        <a:bodyPr/>
        <a:lstStyle/>
        <a:p>
          <a:r>
            <a:rPr lang="en-IN"/>
            <a:t>Working of LLM</a:t>
          </a:r>
          <a:endParaRPr lang="en-IN" dirty="0"/>
        </a:p>
      </dgm:t>
    </dgm:pt>
    <dgm:pt modelId="{FAD27085-CB35-40F5-9F87-D73DA02BEA6D}" type="parTrans" cxnId="{167B48BA-572A-436D-8584-42DE3D81AEF4}">
      <dgm:prSet/>
      <dgm:spPr/>
      <dgm:t>
        <a:bodyPr/>
        <a:lstStyle/>
        <a:p>
          <a:endParaRPr lang="en-IN"/>
        </a:p>
      </dgm:t>
    </dgm:pt>
    <dgm:pt modelId="{46334871-39B8-4CCA-8504-214A04F47C8F}" type="sibTrans" cxnId="{167B48BA-572A-436D-8584-42DE3D81AEF4}">
      <dgm:prSet/>
      <dgm:spPr/>
      <dgm:t>
        <a:bodyPr/>
        <a:lstStyle/>
        <a:p>
          <a:endParaRPr lang="en-IN"/>
        </a:p>
      </dgm:t>
    </dgm:pt>
    <dgm:pt modelId="{F893298D-DBF8-43E0-B516-7DC199721CEF}">
      <dgm:prSet phldrT="[Text]" phldr="0"/>
      <dgm:spPr/>
      <dgm:t>
        <a:bodyPr/>
        <a:lstStyle/>
        <a:p>
          <a:r>
            <a:rPr lang="en-IN"/>
            <a:t>Tokenization</a:t>
          </a:r>
          <a:endParaRPr lang="en-IN" dirty="0"/>
        </a:p>
      </dgm:t>
    </dgm:pt>
    <dgm:pt modelId="{F73BF79B-BBC9-4BC0-8807-52C304A3E5C8}" type="parTrans" cxnId="{339AF745-3DD4-480A-8B58-B46CEA274155}">
      <dgm:prSet/>
      <dgm:spPr/>
      <dgm:t>
        <a:bodyPr/>
        <a:lstStyle/>
        <a:p>
          <a:endParaRPr lang="en-IN"/>
        </a:p>
      </dgm:t>
    </dgm:pt>
    <dgm:pt modelId="{40571989-687D-4397-980D-ED76CD831F1F}" type="sibTrans" cxnId="{339AF745-3DD4-480A-8B58-B46CEA274155}">
      <dgm:prSet/>
      <dgm:spPr/>
      <dgm:t>
        <a:bodyPr/>
        <a:lstStyle/>
        <a:p>
          <a:endParaRPr lang="en-IN"/>
        </a:p>
      </dgm:t>
    </dgm:pt>
    <dgm:pt modelId="{37C75116-8795-4C4D-A95C-47177A4609C5}">
      <dgm:prSet phldrT="[Text]" phldr="0"/>
      <dgm:spPr/>
      <dgm:t>
        <a:bodyPr/>
        <a:lstStyle/>
        <a:p>
          <a:r>
            <a:rPr lang="en-IN"/>
            <a:t>Embedding</a:t>
          </a:r>
          <a:endParaRPr lang="en-IN" dirty="0"/>
        </a:p>
      </dgm:t>
    </dgm:pt>
    <dgm:pt modelId="{EE67ACF5-EDBE-4FCD-80E5-85033070C6B2}" type="parTrans" cxnId="{01F69E6F-FC8D-43AB-81FC-80727DA63FC8}">
      <dgm:prSet/>
      <dgm:spPr/>
      <dgm:t>
        <a:bodyPr/>
        <a:lstStyle/>
        <a:p>
          <a:endParaRPr lang="en-IN"/>
        </a:p>
      </dgm:t>
    </dgm:pt>
    <dgm:pt modelId="{2E7A5850-3973-4B9F-A185-CE43953A2988}" type="sibTrans" cxnId="{01F69E6F-FC8D-43AB-81FC-80727DA63FC8}">
      <dgm:prSet/>
      <dgm:spPr/>
      <dgm:t>
        <a:bodyPr/>
        <a:lstStyle/>
        <a:p>
          <a:endParaRPr lang="en-IN"/>
        </a:p>
      </dgm:t>
    </dgm:pt>
    <dgm:pt modelId="{6EE11172-6E63-4544-A3A1-3FD5B6345554}">
      <dgm:prSet phldrT="[Text]" phldr="0"/>
      <dgm:spPr/>
      <dgm:t>
        <a:bodyPr/>
        <a:lstStyle/>
        <a:p>
          <a:r>
            <a:rPr lang="en-IN"/>
            <a:t>Prompt Engineering: Core Principles</a:t>
          </a:r>
          <a:endParaRPr lang="en-IN" dirty="0"/>
        </a:p>
      </dgm:t>
    </dgm:pt>
    <dgm:pt modelId="{37A5CF35-EF50-47A9-9D05-E78636B8A8A4}" type="parTrans" cxnId="{4A5B9EE0-C9BF-4F7C-9EDD-5FCFA8E2D854}">
      <dgm:prSet/>
      <dgm:spPr/>
      <dgm:t>
        <a:bodyPr/>
        <a:lstStyle/>
        <a:p>
          <a:endParaRPr lang="en-IN"/>
        </a:p>
      </dgm:t>
    </dgm:pt>
    <dgm:pt modelId="{698479A7-4F14-4DD9-A750-2776EFFE5776}" type="sibTrans" cxnId="{4A5B9EE0-C9BF-4F7C-9EDD-5FCFA8E2D854}">
      <dgm:prSet/>
      <dgm:spPr/>
      <dgm:t>
        <a:bodyPr/>
        <a:lstStyle/>
        <a:p>
          <a:endParaRPr lang="en-IN"/>
        </a:p>
      </dgm:t>
    </dgm:pt>
    <dgm:pt modelId="{F0E5126C-2CD3-4975-A27E-288D158DED74}">
      <dgm:prSet phldrT="[Text]" phldr="0"/>
      <dgm:spPr/>
      <dgm:t>
        <a:bodyPr/>
        <a:lstStyle/>
        <a:p>
          <a:r>
            <a:rPr lang="en-IN"/>
            <a:t>Prompt patterns</a:t>
          </a:r>
          <a:endParaRPr lang="en-IN" dirty="0"/>
        </a:p>
      </dgm:t>
    </dgm:pt>
    <dgm:pt modelId="{750171DA-571B-4C55-A7EA-20AA8CD7E504}" type="parTrans" cxnId="{7D6326A8-BEAA-4CA7-8FB9-D5CF9741FAD3}">
      <dgm:prSet/>
      <dgm:spPr/>
      <dgm:t>
        <a:bodyPr/>
        <a:lstStyle/>
        <a:p>
          <a:endParaRPr lang="en-IN"/>
        </a:p>
      </dgm:t>
    </dgm:pt>
    <dgm:pt modelId="{4B5985ED-E39B-4D4F-AE62-719758DA321F}" type="sibTrans" cxnId="{7D6326A8-BEAA-4CA7-8FB9-D5CF9741FAD3}">
      <dgm:prSet/>
      <dgm:spPr/>
      <dgm:t>
        <a:bodyPr/>
        <a:lstStyle/>
        <a:p>
          <a:endParaRPr lang="en-IN"/>
        </a:p>
      </dgm:t>
    </dgm:pt>
    <dgm:pt modelId="{BD18783E-6D04-4A3E-834F-C1539812ED22}" type="pres">
      <dgm:prSet presAssocID="{A3ADC42E-D92D-4CE3-B515-AB4674633F03}" presName="linear" presStyleCnt="0">
        <dgm:presLayoutVars>
          <dgm:animLvl val="lvl"/>
          <dgm:resizeHandles val="exact"/>
        </dgm:presLayoutVars>
      </dgm:prSet>
      <dgm:spPr/>
    </dgm:pt>
    <dgm:pt modelId="{5001E592-11D5-4BFB-8AFD-90D8F5F51859}" type="pres">
      <dgm:prSet presAssocID="{33530723-DC20-49DC-BDF1-C327B49DB98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000203FE-B8EB-4BF3-A2A1-C7FF8110D335}" type="pres">
      <dgm:prSet presAssocID="{33530723-DC20-49DC-BDF1-C327B49DB98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AA89711-E5C3-47AB-9FF3-A3CB55308669}" type="presOf" srcId="{6EE11172-6E63-4544-A3A1-3FD5B6345554}" destId="{000203FE-B8EB-4BF3-A2A1-C7FF8110D335}" srcOrd="0" destOrd="4" presId="urn:microsoft.com/office/officeart/2005/8/layout/vList2"/>
    <dgm:cxn modelId="{E4B08E29-9362-493C-A252-4C1D18059713}" type="presOf" srcId="{F64EA2F3-7A8A-4B5C-A27E-904CC36C0052}" destId="{000203FE-B8EB-4BF3-A2A1-C7FF8110D335}" srcOrd="0" destOrd="0" presId="urn:microsoft.com/office/officeart/2005/8/layout/vList2"/>
    <dgm:cxn modelId="{5D09A12E-3A0B-4A2C-A340-E19EDBE0CE71}" type="presOf" srcId="{F893298D-DBF8-43E0-B516-7DC199721CEF}" destId="{000203FE-B8EB-4BF3-A2A1-C7FF8110D335}" srcOrd="0" destOrd="2" presId="urn:microsoft.com/office/officeart/2005/8/layout/vList2"/>
    <dgm:cxn modelId="{9FCD0137-D12F-4713-8867-5758E45C85F5}" type="presOf" srcId="{33530723-DC20-49DC-BDF1-C327B49DB98B}" destId="{5001E592-11D5-4BFB-8AFD-90D8F5F51859}" srcOrd="0" destOrd="0" presId="urn:microsoft.com/office/officeart/2005/8/layout/vList2"/>
    <dgm:cxn modelId="{2E87A73D-620F-4CA3-9DFE-5FCE6BFB315C}" type="presOf" srcId="{58FF1EB6-6C60-4BBD-9CE1-6FAD096653AB}" destId="{000203FE-B8EB-4BF3-A2A1-C7FF8110D335}" srcOrd="0" destOrd="1" presId="urn:microsoft.com/office/officeart/2005/8/layout/vList2"/>
    <dgm:cxn modelId="{0A1E4A40-68AC-4739-A954-81089F741E9D}" srcId="{A3ADC42E-D92D-4CE3-B515-AB4674633F03}" destId="{33530723-DC20-49DC-BDF1-C327B49DB98B}" srcOrd="0" destOrd="0" parTransId="{0EA4A2A1-619F-4294-9CC4-83E8E77830BF}" sibTransId="{3FA4A193-E0A3-407D-8D9A-10FCCD2B83EF}"/>
    <dgm:cxn modelId="{339AF745-3DD4-480A-8B58-B46CEA274155}" srcId="{33530723-DC20-49DC-BDF1-C327B49DB98B}" destId="{F893298D-DBF8-43E0-B516-7DC199721CEF}" srcOrd="2" destOrd="0" parTransId="{F73BF79B-BBC9-4BC0-8807-52C304A3E5C8}" sibTransId="{40571989-687D-4397-980D-ED76CD831F1F}"/>
    <dgm:cxn modelId="{01F69E6F-FC8D-43AB-81FC-80727DA63FC8}" srcId="{33530723-DC20-49DC-BDF1-C327B49DB98B}" destId="{37C75116-8795-4C4D-A95C-47177A4609C5}" srcOrd="3" destOrd="0" parTransId="{EE67ACF5-EDBE-4FCD-80E5-85033070C6B2}" sibTransId="{2E7A5850-3973-4B9F-A185-CE43953A2988}"/>
    <dgm:cxn modelId="{7AC20052-EC7F-4E29-89D7-917828EA9707}" type="presOf" srcId="{F0E5126C-2CD3-4975-A27E-288D158DED74}" destId="{000203FE-B8EB-4BF3-A2A1-C7FF8110D335}" srcOrd="0" destOrd="5" presId="urn:microsoft.com/office/officeart/2005/8/layout/vList2"/>
    <dgm:cxn modelId="{7D6326A8-BEAA-4CA7-8FB9-D5CF9741FAD3}" srcId="{33530723-DC20-49DC-BDF1-C327B49DB98B}" destId="{F0E5126C-2CD3-4975-A27E-288D158DED74}" srcOrd="5" destOrd="0" parTransId="{750171DA-571B-4C55-A7EA-20AA8CD7E504}" sibTransId="{4B5985ED-E39B-4D4F-AE62-719758DA321F}"/>
    <dgm:cxn modelId="{7BAEC7B0-0DFE-47DD-8832-7FF4FC94EEFA}" srcId="{33530723-DC20-49DC-BDF1-C327B49DB98B}" destId="{F64EA2F3-7A8A-4B5C-A27E-904CC36C0052}" srcOrd="0" destOrd="0" parTransId="{1EEE81C5-E419-48FD-AA09-D0F58960F02F}" sibTransId="{5605F245-2853-46A7-ABDF-EBA52EDDFEA4}"/>
    <dgm:cxn modelId="{167B48BA-572A-436D-8584-42DE3D81AEF4}" srcId="{33530723-DC20-49DC-BDF1-C327B49DB98B}" destId="{58FF1EB6-6C60-4BBD-9CE1-6FAD096653AB}" srcOrd="1" destOrd="0" parTransId="{FAD27085-CB35-40F5-9F87-D73DA02BEA6D}" sibTransId="{46334871-39B8-4CCA-8504-214A04F47C8F}"/>
    <dgm:cxn modelId="{E161A4C2-81C9-4C4D-80E5-3D5F533142BE}" type="presOf" srcId="{37C75116-8795-4C4D-A95C-47177A4609C5}" destId="{000203FE-B8EB-4BF3-A2A1-C7FF8110D335}" srcOrd="0" destOrd="3" presId="urn:microsoft.com/office/officeart/2005/8/layout/vList2"/>
    <dgm:cxn modelId="{4A5B9EE0-C9BF-4F7C-9EDD-5FCFA8E2D854}" srcId="{33530723-DC20-49DC-BDF1-C327B49DB98B}" destId="{6EE11172-6E63-4544-A3A1-3FD5B6345554}" srcOrd="4" destOrd="0" parTransId="{37A5CF35-EF50-47A9-9D05-E78636B8A8A4}" sibTransId="{698479A7-4F14-4DD9-A750-2776EFFE5776}"/>
    <dgm:cxn modelId="{14CBDDE2-2162-4BD5-8576-FAE4B3C65708}" type="presOf" srcId="{A3ADC42E-D92D-4CE3-B515-AB4674633F03}" destId="{BD18783E-6D04-4A3E-834F-C1539812ED22}" srcOrd="0" destOrd="0" presId="urn:microsoft.com/office/officeart/2005/8/layout/vList2"/>
    <dgm:cxn modelId="{70261C45-C2B7-4D1B-8E25-AB16FFBDF448}" type="presParOf" srcId="{BD18783E-6D04-4A3E-834F-C1539812ED22}" destId="{5001E592-11D5-4BFB-8AFD-90D8F5F51859}" srcOrd="0" destOrd="0" presId="urn:microsoft.com/office/officeart/2005/8/layout/vList2"/>
    <dgm:cxn modelId="{91541EE0-3229-4A43-9E2C-C30768C92F43}" type="presParOf" srcId="{BD18783E-6D04-4A3E-834F-C1539812ED22}" destId="{000203FE-B8EB-4BF3-A2A1-C7FF8110D33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460C9F-3360-4A3E-BA64-9D0018EBAF2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F0977208-BD30-46AF-843F-C85ECA013159}">
      <dgm:prSet/>
      <dgm:spPr/>
      <dgm:t>
        <a:bodyPr/>
        <a:lstStyle/>
        <a:p>
          <a:r>
            <a:rPr lang="en-IN"/>
            <a:t>LLMs are neural networks trained on massive amounts of text data</a:t>
          </a:r>
        </a:p>
      </dgm:t>
    </dgm:pt>
    <dgm:pt modelId="{B52C53C8-8275-4A8D-9C30-5BD3EE4C4723}" type="parTrans" cxnId="{A59D2565-A0F9-4962-A65C-853378FD7EEF}">
      <dgm:prSet/>
      <dgm:spPr/>
      <dgm:t>
        <a:bodyPr/>
        <a:lstStyle/>
        <a:p>
          <a:endParaRPr lang="en-IN"/>
        </a:p>
      </dgm:t>
    </dgm:pt>
    <dgm:pt modelId="{8AF66D7A-2197-4BDB-9B01-DC5AA0D05BDF}" type="sibTrans" cxnId="{A59D2565-A0F9-4962-A65C-853378FD7EEF}">
      <dgm:prSet/>
      <dgm:spPr/>
      <dgm:t>
        <a:bodyPr/>
        <a:lstStyle/>
        <a:p>
          <a:endParaRPr lang="en-IN"/>
        </a:p>
      </dgm:t>
    </dgm:pt>
    <dgm:pt modelId="{C84B9063-C397-4DCF-8471-1F9D732CBC69}">
      <dgm:prSet/>
      <dgm:spPr/>
      <dgm:t>
        <a:bodyPr/>
        <a:lstStyle/>
        <a:p>
          <a:r>
            <a:rPr lang="en-IN"/>
            <a:t>They learn statistical patterns → generate text, classify, summarize</a:t>
          </a:r>
        </a:p>
      </dgm:t>
    </dgm:pt>
    <dgm:pt modelId="{BAECE3E1-4726-45AB-90EB-4BC4F23A225C}" type="parTrans" cxnId="{E9EB1AB9-FFD5-4D55-80A4-17A91CA83C59}">
      <dgm:prSet/>
      <dgm:spPr/>
      <dgm:t>
        <a:bodyPr/>
        <a:lstStyle/>
        <a:p>
          <a:endParaRPr lang="en-IN"/>
        </a:p>
      </dgm:t>
    </dgm:pt>
    <dgm:pt modelId="{4F629CA0-DD6E-4520-A842-50F8BE55932C}" type="sibTrans" cxnId="{E9EB1AB9-FFD5-4D55-80A4-17A91CA83C59}">
      <dgm:prSet/>
      <dgm:spPr/>
      <dgm:t>
        <a:bodyPr/>
        <a:lstStyle/>
        <a:p>
          <a:endParaRPr lang="en-IN"/>
        </a:p>
      </dgm:t>
    </dgm:pt>
    <dgm:pt modelId="{2AC12566-189E-4867-8916-57FFD18D5BAC}">
      <dgm:prSet/>
      <dgm:spPr/>
      <dgm:t>
        <a:bodyPr/>
        <a:lstStyle/>
        <a:p>
          <a:r>
            <a:rPr lang="en-IN"/>
            <a:t>Built on the Transformer architecture</a:t>
          </a:r>
        </a:p>
      </dgm:t>
    </dgm:pt>
    <dgm:pt modelId="{7ECEA741-13B1-4C3E-8426-C65EB2DDC96D}" type="parTrans" cxnId="{7C1F7EBE-06F8-4CA9-986D-57ADE4CC7533}">
      <dgm:prSet/>
      <dgm:spPr/>
      <dgm:t>
        <a:bodyPr/>
        <a:lstStyle/>
        <a:p>
          <a:endParaRPr lang="en-IN"/>
        </a:p>
      </dgm:t>
    </dgm:pt>
    <dgm:pt modelId="{60109D1B-1005-41A0-BF91-E156E6B0E240}" type="sibTrans" cxnId="{7C1F7EBE-06F8-4CA9-986D-57ADE4CC7533}">
      <dgm:prSet/>
      <dgm:spPr/>
      <dgm:t>
        <a:bodyPr/>
        <a:lstStyle/>
        <a:p>
          <a:endParaRPr lang="en-IN"/>
        </a:p>
      </dgm:t>
    </dgm:pt>
    <dgm:pt modelId="{CB508D39-39F2-46D5-8E5D-F78962199FEB}">
      <dgm:prSet/>
      <dgm:spPr/>
      <dgm:t>
        <a:bodyPr/>
        <a:lstStyle/>
        <a:p>
          <a:r>
            <a:rPr lang="en-IN"/>
            <a:t>Think of them as 'text prediction engines' with deep contextual understanding</a:t>
          </a:r>
        </a:p>
      </dgm:t>
    </dgm:pt>
    <dgm:pt modelId="{F26381E6-4848-4AD8-84E8-66082B43D54E}" type="parTrans" cxnId="{1FF43250-9FD9-4D07-B845-B12F20B35247}">
      <dgm:prSet/>
      <dgm:spPr/>
      <dgm:t>
        <a:bodyPr/>
        <a:lstStyle/>
        <a:p>
          <a:endParaRPr lang="en-IN"/>
        </a:p>
      </dgm:t>
    </dgm:pt>
    <dgm:pt modelId="{27F97B31-90AD-4B04-89A5-56460085DE66}" type="sibTrans" cxnId="{1FF43250-9FD9-4D07-B845-B12F20B35247}">
      <dgm:prSet/>
      <dgm:spPr/>
      <dgm:t>
        <a:bodyPr/>
        <a:lstStyle/>
        <a:p>
          <a:endParaRPr lang="en-IN"/>
        </a:p>
      </dgm:t>
    </dgm:pt>
    <dgm:pt modelId="{75592D16-6338-42C8-AD6D-3D21761C9040}" type="pres">
      <dgm:prSet presAssocID="{57460C9F-3360-4A3E-BA64-9D0018EBAF2E}" presName="linear" presStyleCnt="0">
        <dgm:presLayoutVars>
          <dgm:animLvl val="lvl"/>
          <dgm:resizeHandles val="exact"/>
        </dgm:presLayoutVars>
      </dgm:prSet>
      <dgm:spPr/>
    </dgm:pt>
    <dgm:pt modelId="{5125C254-A65E-4FDE-ADCB-D920B6399241}" type="pres">
      <dgm:prSet presAssocID="{F0977208-BD30-46AF-843F-C85ECA01315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CBA63F3-15F2-47D3-A715-97281D112167}" type="pres">
      <dgm:prSet presAssocID="{8AF66D7A-2197-4BDB-9B01-DC5AA0D05BDF}" presName="spacer" presStyleCnt="0"/>
      <dgm:spPr/>
    </dgm:pt>
    <dgm:pt modelId="{C40797CD-0806-46ED-88DE-10CDDCA3376D}" type="pres">
      <dgm:prSet presAssocID="{C84B9063-C397-4DCF-8471-1F9D732CBC6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9C1E534-EE14-450C-B9E1-8D77618EC6AC}" type="pres">
      <dgm:prSet presAssocID="{4F629CA0-DD6E-4520-A842-50F8BE55932C}" presName="spacer" presStyleCnt="0"/>
      <dgm:spPr/>
    </dgm:pt>
    <dgm:pt modelId="{AC62E9AB-F0D5-48C2-AC47-784B4AD03E4D}" type="pres">
      <dgm:prSet presAssocID="{2AC12566-189E-4867-8916-57FFD18D5BA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D65F72E-A400-4E28-ABB1-5DAF9054D52F}" type="pres">
      <dgm:prSet presAssocID="{60109D1B-1005-41A0-BF91-E156E6B0E240}" presName="spacer" presStyleCnt="0"/>
      <dgm:spPr/>
    </dgm:pt>
    <dgm:pt modelId="{BBD9F5F1-83F9-4BEC-9A67-7D05DD31A17F}" type="pres">
      <dgm:prSet presAssocID="{CB508D39-39F2-46D5-8E5D-F78962199FE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59D2565-A0F9-4962-A65C-853378FD7EEF}" srcId="{57460C9F-3360-4A3E-BA64-9D0018EBAF2E}" destId="{F0977208-BD30-46AF-843F-C85ECA013159}" srcOrd="0" destOrd="0" parTransId="{B52C53C8-8275-4A8D-9C30-5BD3EE4C4723}" sibTransId="{8AF66D7A-2197-4BDB-9B01-DC5AA0D05BDF}"/>
    <dgm:cxn modelId="{6D661D50-D833-4500-AD14-7E38575AD223}" type="presOf" srcId="{F0977208-BD30-46AF-843F-C85ECA013159}" destId="{5125C254-A65E-4FDE-ADCB-D920B6399241}" srcOrd="0" destOrd="0" presId="urn:microsoft.com/office/officeart/2005/8/layout/vList2"/>
    <dgm:cxn modelId="{1FF43250-9FD9-4D07-B845-B12F20B35247}" srcId="{57460C9F-3360-4A3E-BA64-9D0018EBAF2E}" destId="{CB508D39-39F2-46D5-8E5D-F78962199FEB}" srcOrd="3" destOrd="0" parTransId="{F26381E6-4848-4AD8-84E8-66082B43D54E}" sibTransId="{27F97B31-90AD-4B04-89A5-56460085DE66}"/>
    <dgm:cxn modelId="{4653CA8A-691B-4346-B05E-6D3A36D79149}" type="presOf" srcId="{2AC12566-189E-4867-8916-57FFD18D5BAC}" destId="{AC62E9AB-F0D5-48C2-AC47-784B4AD03E4D}" srcOrd="0" destOrd="0" presId="urn:microsoft.com/office/officeart/2005/8/layout/vList2"/>
    <dgm:cxn modelId="{4EA9679E-8700-4DC6-8FB4-D22158A9CBD5}" type="presOf" srcId="{C84B9063-C397-4DCF-8471-1F9D732CBC69}" destId="{C40797CD-0806-46ED-88DE-10CDDCA3376D}" srcOrd="0" destOrd="0" presId="urn:microsoft.com/office/officeart/2005/8/layout/vList2"/>
    <dgm:cxn modelId="{E9EB1AB9-FFD5-4D55-80A4-17A91CA83C59}" srcId="{57460C9F-3360-4A3E-BA64-9D0018EBAF2E}" destId="{C84B9063-C397-4DCF-8471-1F9D732CBC69}" srcOrd="1" destOrd="0" parTransId="{BAECE3E1-4726-45AB-90EB-4BC4F23A225C}" sibTransId="{4F629CA0-DD6E-4520-A842-50F8BE55932C}"/>
    <dgm:cxn modelId="{7C1F7EBE-06F8-4CA9-986D-57ADE4CC7533}" srcId="{57460C9F-3360-4A3E-BA64-9D0018EBAF2E}" destId="{2AC12566-189E-4867-8916-57FFD18D5BAC}" srcOrd="2" destOrd="0" parTransId="{7ECEA741-13B1-4C3E-8426-C65EB2DDC96D}" sibTransId="{60109D1B-1005-41A0-BF91-E156E6B0E240}"/>
    <dgm:cxn modelId="{4753AFC8-E290-4BF3-A5D2-DB7EB19B76FB}" type="presOf" srcId="{57460C9F-3360-4A3E-BA64-9D0018EBAF2E}" destId="{75592D16-6338-42C8-AD6D-3D21761C9040}" srcOrd="0" destOrd="0" presId="urn:microsoft.com/office/officeart/2005/8/layout/vList2"/>
    <dgm:cxn modelId="{8A2925E3-8F33-4548-B979-5A0D926760C4}" type="presOf" srcId="{CB508D39-39F2-46D5-8E5D-F78962199FEB}" destId="{BBD9F5F1-83F9-4BEC-9A67-7D05DD31A17F}" srcOrd="0" destOrd="0" presId="urn:microsoft.com/office/officeart/2005/8/layout/vList2"/>
    <dgm:cxn modelId="{BCDE31EB-B091-4A6C-8583-D7EE9D3BBB30}" type="presParOf" srcId="{75592D16-6338-42C8-AD6D-3D21761C9040}" destId="{5125C254-A65E-4FDE-ADCB-D920B6399241}" srcOrd="0" destOrd="0" presId="urn:microsoft.com/office/officeart/2005/8/layout/vList2"/>
    <dgm:cxn modelId="{F797AE31-FCDD-443E-9C05-03A2A1F49494}" type="presParOf" srcId="{75592D16-6338-42C8-AD6D-3D21761C9040}" destId="{6CBA63F3-15F2-47D3-A715-97281D112167}" srcOrd="1" destOrd="0" presId="urn:microsoft.com/office/officeart/2005/8/layout/vList2"/>
    <dgm:cxn modelId="{AC14E6C4-6DE6-4F7F-8BC3-760132F1A99E}" type="presParOf" srcId="{75592D16-6338-42C8-AD6D-3D21761C9040}" destId="{C40797CD-0806-46ED-88DE-10CDDCA3376D}" srcOrd="2" destOrd="0" presId="urn:microsoft.com/office/officeart/2005/8/layout/vList2"/>
    <dgm:cxn modelId="{19E4A2F8-2C05-4FC5-B717-67901C127D7C}" type="presParOf" srcId="{75592D16-6338-42C8-AD6D-3D21761C9040}" destId="{B9C1E534-EE14-450C-B9E1-8D77618EC6AC}" srcOrd="3" destOrd="0" presId="urn:microsoft.com/office/officeart/2005/8/layout/vList2"/>
    <dgm:cxn modelId="{578CEEB2-2066-4C6B-99AD-1E410954CF17}" type="presParOf" srcId="{75592D16-6338-42C8-AD6D-3D21761C9040}" destId="{AC62E9AB-F0D5-48C2-AC47-784B4AD03E4D}" srcOrd="4" destOrd="0" presId="urn:microsoft.com/office/officeart/2005/8/layout/vList2"/>
    <dgm:cxn modelId="{49AE0719-D117-429C-891D-96341AA0C161}" type="presParOf" srcId="{75592D16-6338-42C8-AD6D-3D21761C9040}" destId="{ED65F72E-A400-4E28-ABB1-5DAF9054D52F}" srcOrd="5" destOrd="0" presId="urn:microsoft.com/office/officeart/2005/8/layout/vList2"/>
    <dgm:cxn modelId="{68169044-FF8F-429B-9518-78E262F57129}" type="presParOf" srcId="{75592D16-6338-42C8-AD6D-3D21761C9040}" destId="{BBD9F5F1-83F9-4BEC-9A67-7D05DD31A17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749E7F-0675-4236-901F-BD86E7FAD27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8167FC3-FE70-45FE-8643-F415B19D8FD2}">
      <dgm:prSet/>
      <dgm:spPr/>
      <dgm:t>
        <a:bodyPr/>
        <a:lstStyle/>
        <a:p>
          <a:r>
            <a:rPr lang="en-IN" dirty="0"/>
            <a:t>**Greedy Search** —</a:t>
          </a:r>
        </a:p>
      </dgm:t>
    </dgm:pt>
    <dgm:pt modelId="{63C1C6BC-35D5-4EA7-BFB3-4984089473E4}" type="parTrans" cxnId="{870E30C8-D019-4B99-A3DC-8736273B6A38}">
      <dgm:prSet/>
      <dgm:spPr/>
      <dgm:t>
        <a:bodyPr/>
        <a:lstStyle/>
        <a:p>
          <a:endParaRPr lang="en-IN"/>
        </a:p>
      </dgm:t>
    </dgm:pt>
    <dgm:pt modelId="{EC6E3059-DAEF-42BF-B9ED-9CA8B6F321E2}" type="sibTrans" cxnId="{870E30C8-D019-4B99-A3DC-8736273B6A38}">
      <dgm:prSet/>
      <dgm:spPr/>
      <dgm:t>
        <a:bodyPr/>
        <a:lstStyle/>
        <a:p>
          <a:endParaRPr lang="en-IN"/>
        </a:p>
      </dgm:t>
    </dgm:pt>
    <dgm:pt modelId="{114591EB-0715-402F-AA2C-7A672C0917F6}">
      <dgm:prSet/>
      <dgm:spPr/>
      <dgm:t>
        <a:bodyPr/>
        <a:lstStyle/>
        <a:p>
          <a:r>
            <a:rPr lang="en-IN" dirty="0"/>
            <a:t>**Beam Search** —</a:t>
          </a:r>
        </a:p>
      </dgm:t>
    </dgm:pt>
    <dgm:pt modelId="{985E65A4-6B4C-489A-9A70-91D2B8321406}" type="parTrans" cxnId="{FCA3D281-801D-465A-AB22-1D8C820FAA3F}">
      <dgm:prSet/>
      <dgm:spPr/>
      <dgm:t>
        <a:bodyPr/>
        <a:lstStyle/>
        <a:p>
          <a:endParaRPr lang="en-IN"/>
        </a:p>
      </dgm:t>
    </dgm:pt>
    <dgm:pt modelId="{08FE874A-1781-4478-A165-00E1F49E35CE}" type="sibTrans" cxnId="{FCA3D281-801D-465A-AB22-1D8C820FAA3F}">
      <dgm:prSet/>
      <dgm:spPr/>
      <dgm:t>
        <a:bodyPr/>
        <a:lstStyle/>
        <a:p>
          <a:endParaRPr lang="en-IN"/>
        </a:p>
      </dgm:t>
    </dgm:pt>
    <dgm:pt modelId="{CF5FD24C-E333-46EA-988E-0D9EE7F72148}">
      <dgm:prSet/>
      <dgm:spPr/>
      <dgm:t>
        <a:bodyPr/>
        <a:lstStyle/>
        <a:p>
          <a:r>
            <a:rPr lang="en-IN" dirty="0"/>
            <a:t>**Temperature** — </a:t>
          </a:r>
        </a:p>
      </dgm:t>
    </dgm:pt>
    <dgm:pt modelId="{21FD61E9-711C-4E54-9016-9A2B6B7C72B2}" type="parTrans" cxnId="{EFF5FFDF-AA3F-4406-8969-15EABA93C3CE}">
      <dgm:prSet/>
      <dgm:spPr/>
      <dgm:t>
        <a:bodyPr/>
        <a:lstStyle/>
        <a:p>
          <a:endParaRPr lang="en-IN"/>
        </a:p>
      </dgm:t>
    </dgm:pt>
    <dgm:pt modelId="{F0E2143E-0853-4BA5-B8DE-DFC5CE77272C}" type="sibTrans" cxnId="{EFF5FFDF-AA3F-4406-8969-15EABA93C3CE}">
      <dgm:prSet/>
      <dgm:spPr/>
      <dgm:t>
        <a:bodyPr/>
        <a:lstStyle/>
        <a:p>
          <a:endParaRPr lang="en-IN"/>
        </a:p>
      </dgm:t>
    </dgm:pt>
    <dgm:pt modelId="{84645475-6FB4-4417-9BED-1B77436BF376}">
      <dgm:prSet/>
      <dgm:spPr/>
      <dgm:t>
        <a:bodyPr/>
        <a:lstStyle/>
        <a:p>
          <a:r>
            <a:rPr lang="en-IN" dirty="0"/>
            <a:t>**Top-k Sampling** — </a:t>
          </a:r>
        </a:p>
      </dgm:t>
    </dgm:pt>
    <dgm:pt modelId="{EDB453C3-9F1D-4F59-AF63-F5B93C011E9A}" type="parTrans" cxnId="{BADC9407-6534-42A6-AAE1-279309FF1633}">
      <dgm:prSet/>
      <dgm:spPr/>
      <dgm:t>
        <a:bodyPr/>
        <a:lstStyle/>
        <a:p>
          <a:endParaRPr lang="en-IN"/>
        </a:p>
      </dgm:t>
    </dgm:pt>
    <dgm:pt modelId="{286E696A-41A0-4783-B4DF-C9D6AB0D89C8}" type="sibTrans" cxnId="{BADC9407-6534-42A6-AAE1-279309FF1633}">
      <dgm:prSet/>
      <dgm:spPr/>
      <dgm:t>
        <a:bodyPr/>
        <a:lstStyle/>
        <a:p>
          <a:endParaRPr lang="en-IN"/>
        </a:p>
      </dgm:t>
    </dgm:pt>
    <dgm:pt modelId="{6A6C056B-A87C-49F6-9E73-852CCACD6498}">
      <dgm:prSet/>
      <dgm:spPr/>
      <dgm:t>
        <a:bodyPr/>
        <a:lstStyle/>
        <a:p>
          <a:r>
            <a:rPr lang="en-IN" dirty="0"/>
            <a:t>**Top-p Sampling (Nucleus)** —</a:t>
          </a:r>
        </a:p>
      </dgm:t>
    </dgm:pt>
    <dgm:pt modelId="{B72F698A-E1C6-4A3C-AD29-C6CC190F15F4}" type="parTrans" cxnId="{F2BE89DD-3778-484F-8EDA-07468444AFAD}">
      <dgm:prSet/>
      <dgm:spPr/>
      <dgm:t>
        <a:bodyPr/>
        <a:lstStyle/>
        <a:p>
          <a:endParaRPr lang="en-IN"/>
        </a:p>
      </dgm:t>
    </dgm:pt>
    <dgm:pt modelId="{50F177EC-9B46-4E91-B2E6-450F46402D72}" type="sibTrans" cxnId="{F2BE89DD-3778-484F-8EDA-07468444AFAD}">
      <dgm:prSet/>
      <dgm:spPr/>
      <dgm:t>
        <a:bodyPr/>
        <a:lstStyle/>
        <a:p>
          <a:endParaRPr lang="en-IN"/>
        </a:p>
      </dgm:t>
    </dgm:pt>
    <dgm:pt modelId="{1358F065-B15F-4026-B0E8-A0839225CEDE}">
      <dgm:prSet/>
      <dgm:spPr/>
      <dgm:t>
        <a:bodyPr/>
        <a:lstStyle/>
        <a:p>
          <a:r>
            <a:rPr lang="en-IN"/>
            <a:t>Use different strategies based on task requirements.</a:t>
          </a:r>
        </a:p>
      </dgm:t>
    </dgm:pt>
    <dgm:pt modelId="{5B903F2D-87D1-4AED-A8D1-1590AE4B6859}" type="parTrans" cxnId="{251A53E8-2E4E-42AA-9B20-704E190CBF1D}">
      <dgm:prSet/>
      <dgm:spPr/>
      <dgm:t>
        <a:bodyPr/>
        <a:lstStyle/>
        <a:p>
          <a:endParaRPr lang="en-IN"/>
        </a:p>
      </dgm:t>
    </dgm:pt>
    <dgm:pt modelId="{9B66D39F-D5C3-443F-A04B-04B3C41FEA82}" type="sibTrans" cxnId="{251A53E8-2E4E-42AA-9B20-704E190CBF1D}">
      <dgm:prSet/>
      <dgm:spPr/>
      <dgm:t>
        <a:bodyPr/>
        <a:lstStyle/>
        <a:p>
          <a:endParaRPr lang="en-IN"/>
        </a:p>
      </dgm:t>
    </dgm:pt>
    <dgm:pt modelId="{DB9D850A-60C1-4489-A20D-972AE113A838}">
      <dgm:prSet/>
      <dgm:spPr/>
      <dgm:t>
        <a:bodyPr/>
        <a:lstStyle/>
        <a:p>
          <a:r>
            <a:rPr lang="en-IN"/>
            <a:t> pick best token each step (deterministic)</a:t>
          </a:r>
        </a:p>
      </dgm:t>
    </dgm:pt>
    <dgm:pt modelId="{E4EFCBB4-A292-4513-9FB0-9F0D388C909C}" type="parTrans" cxnId="{7CB1AA41-DFC8-41E4-8EB4-5ED977396814}">
      <dgm:prSet/>
      <dgm:spPr/>
      <dgm:t>
        <a:bodyPr/>
        <a:lstStyle/>
        <a:p>
          <a:endParaRPr lang="en-IN"/>
        </a:p>
      </dgm:t>
    </dgm:pt>
    <dgm:pt modelId="{FF9C7A03-B069-4D50-9D57-F9646BF511EA}" type="sibTrans" cxnId="{7CB1AA41-DFC8-41E4-8EB4-5ED977396814}">
      <dgm:prSet/>
      <dgm:spPr/>
      <dgm:t>
        <a:bodyPr/>
        <a:lstStyle/>
        <a:p>
          <a:endParaRPr lang="en-IN"/>
        </a:p>
      </dgm:t>
    </dgm:pt>
    <dgm:pt modelId="{97960DC8-BAF5-42D3-9EAE-7FEE0EF065B2}">
      <dgm:prSet/>
      <dgm:spPr/>
      <dgm:t>
        <a:bodyPr/>
        <a:lstStyle/>
        <a:p>
          <a:r>
            <a:rPr lang="en-IN"/>
            <a:t> explore multiple best paths</a:t>
          </a:r>
          <a:endParaRPr lang="en-IN" dirty="0"/>
        </a:p>
      </dgm:t>
    </dgm:pt>
    <dgm:pt modelId="{20708CC1-7F3B-4456-901E-44560652BA5F}" type="parTrans" cxnId="{CF3F7052-CDC4-4FE5-BE1D-328BC387A7A0}">
      <dgm:prSet/>
      <dgm:spPr/>
      <dgm:t>
        <a:bodyPr/>
        <a:lstStyle/>
        <a:p>
          <a:endParaRPr lang="en-IN"/>
        </a:p>
      </dgm:t>
    </dgm:pt>
    <dgm:pt modelId="{970AE76F-9157-402A-A8DC-78A0D167E8DC}" type="sibTrans" cxnId="{CF3F7052-CDC4-4FE5-BE1D-328BC387A7A0}">
      <dgm:prSet/>
      <dgm:spPr/>
      <dgm:t>
        <a:bodyPr/>
        <a:lstStyle/>
        <a:p>
          <a:endParaRPr lang="en-IN"/>
        </a:p>
      </dgm:t>
    </dgm:pt>
    <dgm:pt modelId="{D9606A22-61C8-42F2-9ED5-B20BEFB560D1}">
      <dgm:prSet/>
      <dgm:spPr/>
      <dgm:t>
        <a:bodyPr/>
        <a:lstStyle/>
        <a:p>
          <a:r>
            <a:rPr lang="en-IN"/>
            <a:t>controls randomness (0 = factual, &gt;1 = creative)</a:t>
          </a:r>
          <a:endParaRPr lang="en-IN" dirty="0"/>
        </a:p>
      </dgm:t>
    </dgm:pt>
    <dgm:pt modelId="{1A771F8A-EEB7-4AED-9EEB-9C7BADFA2557}" type="parTrans" cxnId="{F7A598B9-AE06-4A85-A1D9-00621F91D288}">
      <dgm:prSet/>
      <dgm:spPr/>
      <dgm:t>
        <a:bodyPr/>
        <a:lstStyle/>
        <a:p>
          <a:endParaRPr lang="en-IN"/>
        </a:p>
      </dgm:t>
    </dgm:pt>
    <dgm:pt modelId="{14BA6E09-EB86-4C91-83AF-9D74A5FF2E1F}" type="sibTrans" cxnId="{F7A598B9-AE06-4A85-A1D9-00621F91D288}">
      <dgm:prSet/>
      <dgm:spPr/>
      <dgm:t>
        <a:bodyPr/>
        <a:lstStyle/>
        <a:p>
          <a:endParaRPr lang="en-IN"/>
        </a:p>
      </dgm:t>
    </dgm:pt>
    <dgm:pt modelId="{631FA8E1-BC10-4D5D-A308-0089D84C6645}">
      <dgm:prSet/>
      <dgm:spPr/>
      <dgm:t>
        <a:bodyPr/>
        <a:lstStyle/>
        <a:p>
          <a:r>
            <a:rPr lang="en-IN"/>
            <a:t>choose from top k likely tokens</a:t>
          </a:r>
          <a:endParaRPr lang="en-IN" dirty="0"/>
        </a:p>
      </dgm:t>
    </dgm:pt>
    <dgm:pt modelId="{0691CA32-60C2-4736-89A4-9FA9611A6A0F}" type="parTrans" cxnId="{9E715703-DE4B-4D51-8A7C-85BD835320A4}">
      <dgm:prSet/>
      <dgm:spPr/>
      <dgm:t>
        <a:bodyPr/>
        <a:lstStyle/>
        <a:p>
          <a:endParaRPr lang="en-IN"/>
        </a:p>
      </dgm:t>
    </dgm:pt>
    <dgm:pt modelId="{8FEA86B7-42F6-49FB-881C-9E33FFD4F9D9}" type="sibTrans" cxnId="{9E715703-DE4B-4D51-8A7C-85BD835320A4}">
      <dgm:prSet/>
      <dgm:spPr/>
      <dgm:t>
        <a:bodyPr/>
        <a:lstStyle/>
        <a:p>
          <a:endParaRPr lang="en-IN"/>
        </a:p>
      </dgm:t>
    </dgm:pt>
    <dgm:pt modelId="{1DA30F4A-3493-4A85-9DB2-5360FA5EF9A9}">
      <dgm:prSet/>
      <dgm:spPr/>
      <dgm:t>
        <a:bodyPr/>
        <a:lstStyle/>
        <a:p>
          <a:r>
            <a:rPr lang="en-IN"/>
            <a:t> choose from smallest probability mass p</a:t>
          </a:r>
          <a:endParaRPr lang="en-IN" dirty="0"/>
        </a:p>
      </dgm:t>
    </dgm:pt>
    <dgm:pt modelId="{C058A194-099B-42B0-9C66-D33ABF2B0562}" type="parTrans" cxnId="{43ACFBC2-35F5-42D2-8694-F40C9EE5936F}">
      <dgm:prSet/>
      <dgm:spPr/>
      <dgm:t>
        <a:bodyPr/>
        <a:lstStyle/>
        <a:p>
          <a:endParaRPr lang="en-IN"/>
        </a:p>
      </dgm:t>
    </dgm:pt>
    <dgm:pt modelId="{022A611F-08D9-4280-8E3D-86D3C5BD1988}" type="sibTrans" cxnId="{43ACFBC2-35F5-42D2-8694-F40C9EE5936F}">
      <dgm:prSet/>
      <dgm:spPr/>
      <dgm:t>
        <a:bodyPr/>
        <a:lstStyle/>
        <a:p>
          <a:endParaRPr lang="en-IN"/>
        </a:p>
      </dgm:t>
    </dgm:pt>
    <dgm:pt modelId="{103D89FA-AD49-4D9C-84FD-74C88EC1252C}" type="pres">
      <dgm:prSet presAssocID="{7E749E7F-0675-4236-901F-BD86E7FAD27D}" presName="linear" presStyleCnt="0">
        <dgm:presLayoutVars>
          <dgm:animLvl val="lvl"/>
          <dgm:resizeHandles val="exact"/>
        </dgm:presLayoutVars>
      </dgm:prSet>
      <dgm:spPr/>
    </dgm:pt>
    <dgm:pt modelId="{78C7C4A9-70B3-4E3B-98C1-DDFD28085593}" type="pres">
      <dgm:prSet presAssocID="{48167FC3-FE70-45FE-8643-F415B19D8FD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375BF0B-867E-4DDB-B67A-66F4C92E2359}" type="pres">
      <dgm:prSet presAssocID="{48167FC3-FE70-45FE-8643-F415B19D8FD2}" presName="childText" presStyleLbl="revTx" presStyleIdx="0" presStyleCnt="5">
        <dgm:presLayoutVars>
          <dgm:bulletEnabled val="1"/>
        </dgm:presLayoutVars>
      </dgm:prSet>
      <dgm:spPr/>
    </dgm:pt>
    <dgm:pt modelId="{7E02C42D-2A64-4E6A-A3A5-D0814D6FC724}" type="pres">
      <dgm:prSet presAssocID="{114591EB-0715-402F-AA2C-7A672C0917F6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838E710-E591-4BB3-B2AE-B5385045AC5E}" type="pres">
      <dgm:prSet presAssocID="{114591EB-0715-402F-AA2C-7A672C0917F6}" presName="childText" presStyleLbl="revTx" presStyleIdx="1" presStyleCnt="5">
        <dgm:presLayoutVars>
          <dgm:bulletEnabled val="1"/>
        </dgm:presLayoutVars>
      </dgm:prSet>
      <dgm:spPr/>
    </dgm:pt>
    <dgm:pt modelId="{026D5237-0094-4BE7-9D91-B2D4EC046598}" type="pres">
      <dgm:prSet presAssocID="{CF5FD24C-E333-46EA-988E-0D9EE7F72148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1D77FE5-FC36-4094-A7C7-88362E3BEAA4}" type="pres">
      <dgm:prSet presAssocID="{CF5FD24C-E333-46EA-988E-0D9EE7F72148}" presName="childText" presStyleLbl="revTx" presStyleIdx="2" presStyleCnt="5">
        <dgm:presLayoutVars>
          <dgm:bulletEnabled val="1"/>
        </dgm:presLayoutVars>
      </dgm:prSet>
      <dgm:spPr/>
    </dgm:pt>
    <dgm:pt modelId="{8C3F2B14-89F5-40A8-A764-1D7161F2976C}" type="pres">
      <dgm:prSet presAssocID="{84645475-6FB4-4417-9BED-1B77436BF37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36868E8-ED9A-45AE-9E48-2CE8E49AF35F}" type="pres">
      <dgm:prSet presAssocID="{84645475-6FB4-4417-9BED-1B77436BF376}" presName="childText" presStyleLbl="revTx" presStyleIdx="3" presStyleCnt="5">
        <dgm:presLayoutVars>
          <dgm:bulletEnabled val="1"/>
        </dgm:presLayoutVars>
      </dgm:prSet>
      <dgm:spPr/>
    </dgm:pt>
    <dgm:pt modelId="{23A938B9-FC38-4D68-A2C1-44D7C3B1DF97}" type="pres">
      <dgm:prSet presAssocID="{6A6C056B-A87C-49F6-9E73-852CCACD6498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17681013-3AA9-4907-B7E3-3864E9727A75}" type="pres">
      <dgm:prSet presAssocID="{6A6C056B-A87C-49F6-9E73-852CCACD6498}" presName="childText" presStyleLbl="revTx" presStyleIdx="4" presStyleCnt="5">
        <dgm:presLayoutVars>
          <dgm:bulletEnabled val="1"/>
        </dgm:presLayoutVars>
      </dgm:prSet>
      <dgm:spPr/>
    </dgm:pt>
    <dgm:pt modelId="{72CEBEB3-E4A1-4DDB-A371-80D517C5F66E}" type="pres">
      <dgm:prSet presAssocID="{1358F065-B15F-4026-B0E8-A0839225CEDE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9E715703-DE4B-4D51-8A7C-85BD835320A4}" srcId="{84645475-6FB4-4417-9BED-1B77436BF376}" destId="{631FA8E1-BC10-4D5D-A308-0089D84C6645}" srcOrd="0" destOrd="0" parTransId="{0691CA32-60C2-4736-89A4-9FA9611A6A0F}" sibTransId="{8FEA86B7-42F6-49FB-881C-9E33FFD4F9D9}"/>
    <dgm:cxn modelId="{BADC9407-6534-42A6-AAE1-279309FF1633}" srcId="{7E749E7F-0675-4236-901F-BD86E7FAD27D}" destId="{84645475-6FB4-4417-9BED-1B77436BF376}" srcOrd="3" destOrd="0" parTransId="{EDB453C3-9F1D-4F59-AF63-F5B93C011E9A}" sibTransId="{286E696A-41A0-4783-B4DF-C9D6AB0D89C8}"/>
    <dgm:cxn modelId="{99A28527-39CA-4D11-80F0-7E5AA62BB419}" type="presOf" srcId="{7E749E7F-0675-4236-901F-BD86E7FAD27D}" destId="{103D89FA-AD49-4D9C-84FD-74C88EC1252C}" srcOrd="0" destOrd="0" presId="urn:microsoft.com/office/officeart/2005/8/layout/vList2"/>
    <dgm:cxn modelId="{0DA03D2E-003C-44D4-AC58-B39653F34038}" type="presOf" srcId="{631FA8E1-BC10-4D5D-A308-0089D84C6645}" destId="{936868E8-ED9A-45AE-9E48-2CE8E49AF35F}" srcOrd="0" destOrd="0" presId="urn:microsoft.com/office/officeart/2005/8/layout/vList2"/>
    <dgm:cxn modelId="{35A1EB3B-F534-4B6F-B722-DC3BD20E1D69}" type="presOf" srcId="{DB9D850A-60C1-4489-A20D-972AE113A838}" destId="{3375BF0B-867E-4DDB-B67A-66F4C92E2359}" srcOrd="0" destOrd="0" presId="urn:microsoft.com/office/officeart/2005/8/layout/vList2"/>
    <dgm:cxn modelId="{7CB1AA41-DFC8-41E4-8EB4-5ED977396814}" srcId="{48167FC3-FE70-45FE-8643-F415B19D8FD2}" destId="{DB9D850A-60C1-4489-A20D-972AE113A838}" srcOrd="0" destOrd="0" parTransId="{E4EFCBB4-A292-4513-9FB0-9F0D388C909C}" sibTransId="{FF9C7A03-B069-4D50-9D57-F9646BF511EA}"/>
    <dgm:cxn modelId="{CF3F7052-CDC4-4FE5-BE1D-328BC387A7A0}" srcId="{114591EB-0715-402F-AA2C-7A672C0917F6}" destId="{97960DC8-BAF5-42D3-9EAE-7FEE0EF065B2}" srcOrd="0" destOrd="0" parTransId="{20708CC1-7F3B-4456-901E-44560652BA5F}" sibTransId="{970AE76F-9157-402A-A8DC-78A0D167E8DC}"/>
    <dgm:cxn modelId="{FCA3D281-801D-465A-AB22-1D8C820FAA3F}" srcId="{7E749E7F-0675-4236-901F-BD86E7FAD27D}" destId="{114591EB-0715-402F-AA2C-7A672C0917F6}" srcOrd="1" destOrd="0" parTransId="{985E65A4-6B4C-489A-9A70-91D2B8321406}" sibTransId="{08FE874A-1781-4478-A165-00E1F49E35CE}"/>
    <dgm:cxn modelId="{A50A8588-E760-45BC-949E-D51C5C1D7DE3}" type="presOf" srcId="{6A6C056B-A87C-49F6-9E73-852CCACD6498}" destId="{23A938B9-FC38-4D68-A2C1-44D7C3B1DF97}" srcOrd="0" destOrd="0" presId="urn:microsoft.com/office/officeart/2005/8/layout/vList2"/>
    <dgm:cxn modelId="{3C6607A3-CDBA-4241-B802-531EDF550C48}" type="presOf" srcId="{CF5FD24C-E333-46EA-988E-0D9EE7F72148}" destId="{026D5237-0094-4BE7-9D91-B2D4EC046598}" srcOrd="0" destOrd="0" presId="urn:microsoft.com/office/officeart/2005/8/layout/vList2"/>
    <dgm:cxn modelId="{A2745DA6-4502-41FD-B056-C524F09A10BF}" type="presOf" srcId="{1DA30F4A-3493-4A85-9DB2-5360FA5EF9A9}" destId="{17681013-3AA9-4907-B7E3-3864E9727A75}" srcOrd="0" destOrd="0" presId="urn:microsoft.com/office/officeart/2005/8/layout/vList2"/>
    <dgm:cxn modelId="{F7A598B9-AE06-4A85-A1D9-00621F91D288}" srcId="{CF5FD24C-E333-46EA-988E-0D9EE7F72148}" destId="{D9606A22-61C8-42F2-9ED5-B20BEFB560D1}" srcOrd="0" destOrd="0" parTransId="{1A771F8A-EEB7-4AED-9EEB-9C7BADFA2557}" sibTransId="{14BA6E09-EB86-4C91-83AF-9D74A5FF2E1F}"/>
    <dgm:cxn modelId="{9DE2A2BB-5E60-41BF-BEEE-444D65F31EA6}" type="presOf" srcId="{97960DC8-BAF5-42D3-9EAE-7FEE0EF065B2}" destId="{F838E710-E591-4BB3-B2AE-B5385045AC5E}" srcOrd="0" destOrd="0" presId="urn:microsoft.com/office/officeart/2005/8/layout/vList2"/>
    <dgm:cxn modelId="{D54C18BF-2C2A-4573-9E80-9602F62ECE0E}" type="presOf" srcId="{1358F065-B15F-4026-B0E8-A0839225CEDE}" destId="{72CEBEB3-E4A1-4DDB-A371-80D517C5F66E}" srcOrd="0" destOrd="0" presId="urn:microsoft.com/office/officeart/2005/8/layout/vList2"/>
    <dgm:cxn modelId="{43ACFBC2-35F5-42D2-8694-F40C9EE5936F}" srcId="{6A6C056B-A87C-49F6-9E73-852CCACD6498}" destId="{1DA30F4A-3493-4A85-9DB2-5360FA5EF9A9}" srcOrd="0" destOrd="0" parTransId="{C058A194-099B-42B0-9C66-D33ABF2B0562}" sibTransId="{022A611F-08D9-4280-8E3D-86D3C5BD1988}"/>
    <dgm:cxn modelId="{870E30C8-D019-4B99-A3DC-8736273B6A38}" srcId="{7E749E7F-0675-4236-901F-BD86E7FAD27D}" destId="{48167FC3-FE70-45FE-8643-F415B19D8FD2}" srcOrd="0" destOrd="0" parTransId="{63C1C6BC-35D5-4EA7-BFB3-4984089473E4}" sibTransId="{EC6E3059-DAEF-42BF-B9ED-9CA8B6F321E2}"/>
    <dgm:cxn modelId="{642289CA-7CF3-4E11-99A4-5ABF39128B2C}" type="presOf" srcId="{84645475-6FB4-4417-9BED-1B77436BF376}" destId="{8C3F2B14-89F5-40A8-A764-1D7161F2976C}" srcOrd="0" destOrd="0" presId="urn:microsoft.com/office/officeart/2005/8/layout/vList2"/>
    <dgm:cxn modelId="{DFE311CF-5684-409D-8DC5-68E83C47DDA3}" type="presOf" srcId="{114591EB-0715-402F-AA2C-7A672C0917F6}" destId="{7E02C42D-2A64-4E6A-A3A5-D0814D6FC724}" srcOrd="0" destOrd="0" presId="urn:microsoft.com/office/officeart/2005/8/layout/vList2"/>
    <dgm:cxn modelId="{7ECC35D3-9386-493A-96E7-8812A3BF023F}" type="presOf" srcId="{D9606A22-61C8-42F2-9ED5-B20BEFB560D1}" destId="{21D77FE5-FC36-4094-A7C7-88362E3BEAA4}" srcOrd="0" destOrd="0" presId="urn:microsoft.com/office/officeart/2005/8/layout/vList2"/>
    <dgm:cxn modelId="{F2BE89DD-3778-484F-8EDA-07468444AFAD}" srcId="{7E749E7F-0675-4236-901F-BD86E7FAD27D}" destId="{6A6C056B-A87C-49F6-9E73-852CCACD6498}" srcOrd="4" destOrd="0" parTransId="{B72F698A-E1C6-4A3C-AD29-C6CC190F15F4}" sibTransId="{50F177EC-9B46-4E91-B2E6-450F46402D72}"/>
    <dgm:cxn modelId="{EFF5FFDF-AA3F-4406-8969-15EABA93C3CE}" srcId="{7E749E7F-0675-4236-901F-BD86E7FAD27D}" destId="{CF5FD24C-E333-46EA-988E-0D9EE7F72148}" srcOrd="2" destOrd="0" parTransId="{21FD61E9-711C-4E54-9016-9A2B6B7C72B2}" sibTransId="{F0E2143E-0853-4BA5-B8DE-DFC5CE77272C}"/>
    <dgm:cxn modelId="{251A53E8-2E4E-42AA-9B20-704E190CBF1D}" srcId="{7E749E7F-0675-4236-901F-BD86E7FAD27D}" destId="{1358F065-B15F-4026-B0E8-A0839225CEDE}" srcOrd="5" destOrd="0" parTransId="{5B903F2D-87D1-4AED-A8D1-1590AE4B6859}" sibTransId="{9B66D39F-D5C3-443F-A04B-04B3C41FEA82}"/>
    <dgm:cxn modelId="{BF52D6FA-E10B-4814-8B70-627DF8C0D4B3}" type="presOf" srcId="{48167FC3-FE70-45FE-8643-F415B19D8FD2}" destId="{78C7C4A9-70B3-4E3B-98C1-DDFD28085593}" srcOrd="0" destOrd="0" presId="urn:microsoft.com/office/officeart/2005/8/layout/vList2"/>
    <dgm:cxn modelId="{E5CEE235-1F10-4528-9545-9C43D822BE70}" type="presParOf" srcId="{103D89FA-AD49-4D9C-84FD-74C88EC1252C}" destId="{78C7C4A9-70B3-4E3B-98C1-DDFD28085593}" srcOrd="0" destOrd="0" presId="urn:microsoft.com/office/officeart/2005/8/layout/vList2"/>
    <dgm:cxn modelId="{CC5E2DB5-B986-4E52-A4DF-54523536D878}" type="presParOf" srcId="{103D89FA-AD49-4D9C-84FD-74C88EC1252C}" destId="{3375BF0B-867E-4DDB-B67A-66F4C92E2359}" srcOrd="1" destOrd="0" presId="urn:microsoft.com/office/officeart/2005/8/layout/vList2"/>
    <dgm:cxn modelId="{97558C40-F046-4B9D-BF80-9F2A587EF46B}" type="presParOf" srcId="{103D89FA-AD49-4D9C-84FD-74C88EC1252C}" destId="{7E02C42D-2A64-4E6A-A3A5-D0814D6FC724}" srcOrd="2" destOrd="0" presId="urn:microsoft.com/office/officeart/2005/8/layout/vList2"/>
    <dgm:cxn modelId="{5E463E80-E198-4720-BED3-12791C3DB374}" type="presParOf" srcId="{103D89FA-AD49-4D9C-84FD-74C88EC1252C}" destId="{F838E710-E591-4BB3-B2AE-B5385045AC5E}" srcOrd="3" destOrd="0" presId="urn:microsoft.com/office/officeart/2005/8/layout/vList2"/>
    <dgm:cxn modelId="{C285779E-A44B-4D06-8E64-BC1227DEDC20}" type="presParOf" srcId="{103D89FA-AD49-4D9C-84FD-74C88EC1252C}" destId="{026D5237-0094-4BE7-9D91-B2D4EC046598}" srcOrd="4" destOrd="0" presId="urn:microsoft.com/office/officeart/2005/8/layout/vList2"/>
    <dgm:cxn modelId="{5B805C25-9272-4AF8-AC2D-6E087B0BED00}" type="presParOf" srcId="{103D89FA-AD49-4D9C-84FD-74C88EC1252C}" destId="{21D77FE5-FC36-4094-A7C7-88362E3BEAA4}" srcOrd="5" destOrd="0" presId="urn:microsoft.com/office/officeart/2005/8/layout/vList2"/>
    <dgm:cxn modelId="{5956DF30-165F-4A3E-8375-D34E1EC296E9}" type="presParOf" srcId="{103D89FA-AD49-4D9C-84FD-74C88EC1252C}" destId="{8C3F2B14-89F5-40A8-A764-1D7161F2976C}" srcOrd="6" destOrd="0" presId="urn:microsoft.com/office/officeart/2005/8/layout/vList2"/>
    <dgm:cxn modelId="{7AE2364D-31A8-4458-8431-E55A834B5854}" type="presParOf" srcId="{103D89FA-AD49-4D9C-84FD-74C88EC1252C}" destId="{936868E8-ED9A-45AE-9E48-2CE8E49AF35F}" srcOrd="7" destOrd="0" presId="urn:microsoft.com/office/officeart/2005/8/layout/vList2"/>
    <dgm:cxn modelId="{73F878D0-12DA-43ED-A83F-251893AF6AFE}" type="presParOf" srcId="{103D89FA-AD49-4D9C-84FD-74C88EC1252C}" destId="{23A938B9-FC38-4D68-A2C1-44D7C3B1DF97}" srcOrd="8" destOrd="0" presId="urn:microsoft.com/office/officeart/2005/8/layout/vList2"/>
    <dgm:cxn modelId="{96DE7283-CEBA-4418-A022-0ECDE69156A1}" type="presParOf" srcId="{103D89FA-AD49-4D9C-84FD-74C88EC1252C}" destId="{17681013-3AA9-4907-B7E3-3864E9727A75}" srcOrd="9" destOrd="0" presId="urn:microsoft.com/office/officeart/2005/8/layout/vList2"/>
    <dgm:cxn modelId="{7744E879-9907-4EC3-8D21-067B87C2BB8E}" type="presParOf" srcId="{103D89FA-AD49-4D9C-84FD-74C88EC1252C}" destId="{72CEBEB3-E4A1-4DDB-A371-80D517C5F66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76DADA6-CB1D-4CBE-ACD5-A7AFCE32AAF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077FFBBB-82EE-4ADD-A31A-E35FC3E37DB9}">
      <dgm:prSet/>
      <dgm:spPr/>
      <dgm:t>
        <a:bodyPr/>
        <a:lstStyle/>
        <a:p>
          <a:r>
            <a:rPr lang="en-US"/>
            <a:t>RAG is an LLM application design pattern that </a:t>
          </a:r>
          <a:r>
            <a:rPr lang="en-US" b="1"/>
            <a:t>combines an LLM's generative ability with an external knowledge base</a:t>
          </a:r>
          <a:r>
            <a:rPr lang="en-US"/>
            <a:t> to produce more accurate, grounded, and context-aware responses.</a:t>
          </a:r>
          <a:endParaRPr lang="en-IN"/>
        </a:p>
      </dgm:t>
    </dgm:pt>
    <dgm:pt modelId="{4ECCEA89-453F-4ACB-A476-390FC04A332C}" type="parTrans" cxnId="{00888EE8-C759-4B95-9502-78ED24928F61}">
      <dgm:prSet/>
      <dgm:spPr/>
      <dgm:t>
        <a:bodyPr/>
        <a:lstStyle/>
        <a:p>
          <a:endParaRPr lang="en-IN"/>
        </a:p>
      </dgm:t>
    </dgm:pt>
    <dgm:pt modelId="{11C03721-6045-4D41-98BA-74F8A5106B52}" type="sibTrans" cxnId="{00888EE8-C759-4B95-9502-78ED24928F61}">
      <dgm:prSet/>
      <dgm:spPr/>
      <dgm:t>
        <a:bodyPr/>
        <a:lstStyle/>
        <a:p>
          <a:endParaRPr lang="en-IN"/>
        </a:p>
      </dgm:t>
    </dgm:pt>
    <dgm:pt modelId="{CC6FF6F4-0789-4C9E-9527-1A5DB12D29AA}" type="pres">
      <dgm:prSet presAssocID="{B76DADA6-CB1D-4CBE-ACD5-A7AFCE32AAF7}" presName="linear" presStyleCnt="0">
        <dgm:presLayoutVars>
          <dgm:animLvl val="lvl"/>
          <dgm:resizeHandles val="exact"/>
        </dgm:presLayoutVars>
      </dgm:prSet>
      <dgm:spPr/>
    </dgm:pt>
    <dgm:pt modelId="{91E01A22-60A5-4EA9-810C-37B27B33ED09}" type="pres">
      <dgm:prSet presAssocID="{077FFBBB-82EE-4ADD-A31A-E35FC3E37DB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CC7B069-6DAD-4E06-A856-69128CF23FBC}" type="presOf" srcId="{B76DADA6-CB1D-4CBE-ACD5-A7AFCE32AAF7}" destId="{CC6FF6F4-0789-4C9E-9527-1A5DB12D29AA}" srcOrd="0" destOrd="0" presId="urn:microsoft.com/office/officeart/2005/8/layout/vList2"/>
    <dgm:cxn modelId="{00888EE8-C759-4B95-9502-78ED24928F61}" srcId="{B76DADA6-CB1D-4CBE-ACD5-A7AFCE32AAF7}" destId="{077FFBBB-82EE-4ADD-A31A-E35FC3E37DB9}" srcOrd="0" destOrd="0" parTransId="{4ECCEA89-453F-4ACB-A476-390FC04A332C}" sibTransId="{11C03721-6045-4D41-98BA-74F8A5106B52}"/>
    <dgm:cxn modelId="{5A7EAEF1-892E-4BB4-A98B-CF98AEE5541A}" type="presOf" srcId="{077FFBBB-82EE-4ADD-A31A-E35FC3E37DB9}" destId="{91E01A22-60A5-4EA9-810C-37B27B33ED09}" srcOrd="0" destOrd="0" presId="urn:microsoft.com/office/officeart/2005/8/layout/vList2"/>
    <dgm:cxn modelId="{F0B8374F-D35E-48FD-AD14-489912973F61}" type="presParOf" srcId="{CC6FF6F4-0789-4C9E-9527-1A5DB12D29AA}" destId="{91E01A22-60A5-4EA9-810C-37B27B33ED0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01E592-11D5-4BFB-8AFD-90D8F5F51859}">
      <dsp:nvSpPr>
        <dsp:cNvPr id="0" name=""/>
        <dsp:cNvSpPr/>
      </dsp:nvSpPr>
      <dsp:spPr>
        <a:xfrm>
          <a:off x="0" y="222070"/>
          <a:ext cx="7128933" cy="1029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400" kern="1200" dirty="0"/>
            <a:t>Agenda</a:t>
          </a:r>
        </a:p>
      </dsp:txBody>
      <dsp:txXfrm>
        <a:off x="50261" y="272331"/>
        <a:ext cx="7028411" cy="929078"/>
      </dsp:txXfrm>
    </dsp:sp>
    <dsp:sp modelId="{000203FE-B8EB-4BF3-A2A1-C7FF8110D335}">
      <dsp:nvSpPr>
        <dsp:cNvPr id="0" name=""/>
        <dsp:cNvSpPr/>
      </dsp:nvSpPr>
      <dsp:spPr>
        <a:xfrm>
          <a:off x="0" y="1251670"/>
          <a:ext cx="7128933" cy="3278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6344" tIns="55880" rIns="312928" bIns="55880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400" kern="1200" dirty="0"/>
            <a:t>LLM basics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400" kern="1200"/>
            <a:t>Working of LLM</a:t>
          </a:r>
          <a:endParaRPr lang="en-IN" sz="3400" kern="1200" dirty="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400" kern="1200"/>
            <a:t>Tokenization</a:t>
          </a:r>
          <a:endParaRPr lang="en-IN" sz="3400" kern="1200" dirty="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400" kern="1200"/>
            <a:t>Embedding</a:t>
          </a:r>
          <a:endParaRPr lang="en-IN" sz="3400" kern="1200" dirty="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400" kern="1200"/>
            <a:t>Prompt Engineering: Core Principles</a:t>
          </a:r>
          <a:endParaRPr lang="en-IN" sz="3400" kern="1200" dirty="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400" kern="1200"/>
            <a:t>Prompt patterns</a:t>
          </a:r>
          <a:endParaRPr lang="en-IN" sz="3400" kern="1200" dirty="0"/>
        </a:p>
      </dsp:txBody>
      <dsp:txXfrm>
        <a:off x="0" y="1251670"/>
        <a:ext cx="7128933" cy="32788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25C254-A65E-4FDE-ADCB-D920B6399241}">
      <dsp:nvSpPr>
        <dsp:cNvPr id="0" name=""/>
        <dsp:cNvSpPr/>
      </dsp:nvSpPr>
      <dsp:spPr>
        <a:xfrm>
          <a:off x="0" y="82983"/>
          <a:ext cx="7950200" cy="857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LLMs are neural networks trained on massive amounts of text data</a:t>
          </a:r>
        </a:p>
      </dsp:txBody>
      <dsp:txXfrm>
        <a:off x="41872" y="124855"/>
        <a:ext cx="7866456" cy="774012"/>
      </dsp:txXfrm>
    </dsp:sp>
    <dsp:sp modelId="{C40797CD-0806-46ED-88DE-10CDDCA3376D}">
      <dsp:nvSpPr>
        <dsp:cNvPr id="0" name=""/>
        <dsp:cNvSpPr/>
      </dsp:nvSpPr>
      <dsp:spPr>
        <a:xfrm>
          <a:off x="0" y="1006980"/>
          <a:ext cx="7950200" cy="857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They learn statistical patterns → generate text, classify, summarize</a:t>
          </a:r>
        </a:p>
      </dsp:txBody>
      <dsp:txXfrm>
        <a:off x="41872" y="1048852"/>
        <a:ext cx="7866456" cy="774012"/>
      </dsp:txXfrm>
    </dsp:sp>
    <dsp:sp modelId="{AC62E9AB-F0D5-48C2-AC47-784B4AD03E4D}">
      <dsp:nvSpPr>
        <dsp:cNvPr id="0" name=""/>
        <dsp:cNvSpPr/>
      </dsp:nvSpPr>
      <dsp:spPr>
        <a:xfrm>
          <a:off x="0" y="1930976"/>
          <a:ext cx="7950200" cy="857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Built on the Transformer architecture</a:t>
          </a:r>
        </a:p>
      </dsp:txBody>
      <dsp:txXfrm>
        <a:off x="41872" y="1972848"/>
        <a:ext cx="7866456" cy="774012"/>
      </dsp:txXfrm>
    </dsp:sp>
    <dsp:sp modelId="{BBD9F5F1-83F9-4BEC-9A67-7D05DD31A17F}">
      <dsp:nvSpPr>
        <dsp:cNvPr id="0" name=""/>
        <dsp:cNvSpPr/>
      </dsp:nvSpPr>
      <dsp:spPr>
        <a:xfrm>
          <a:off x="0" y="2854972"/>
          <a:ext cx="7950200" cy="857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Think of them as 'text prediction engines' with deep contextual understanding</a:t>
          </a:r>
        </a:p>
      </dsp:txBody>
      <dsp:txXfrm>
        <a:off x="41872" y="2896844"/>
        <a:ext cx="7866456" cy="7740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C7C4A9-70B3-4E3B-98C1-DDFD28085593}">
      <dsp:nvSpPr>
        <dsp:cNvPr id="0" name=""/>
        <dsp:cNvSpPr/>
      </dsp:nvSpPr>
      <dsp:spPr>
        <a:xfrm>
          <a:off x="0" y="656"/>
          <a:ext cx="7950200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**Greedy Search** —</a:t>
          </a:r>
        </a:p>
      </dsp:txBody>
      <dsp:txXfrm>
        <a:off x="19419" y="20075"/>
        <a:ext cx="7911362" cy="358962"/>
      </dsp:txXfrm>
    </dsp:sp>
    <dsp:sp modelId="{3375BF0B-867E-4DDB-B67A-66F4C92E2359}">
      <dsp:nvSpPr>
        <dsp:cNvPr id="0" name=""/>
        <dsp:cNvSpPr/>
      </dsp:nvSpPr>
      <dsp:spPr>
        <a:xfrm>
          <a:off x="0" y="398456"/>
          <a:ext cx="7950200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241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300" kern="1200"/>
            <a:t> pick best token each step (deterministic)</a:t>
          </a:r>
        </a:p>
      </dsp:txBody>
      <dsp:txXfrm>
        <a:off x="0" y="398456"/>
        <a:ext cx="7950200" cy="281520"/>
      </dsp:txXfrm>
    </dsp:sp>
    <dsp:sp modelId="{7E02C42D-2A64-4E6A-A3A5-D0814D6FC724}">
      <dsp:nvSpPr>
        <dsp:cNvPr id="0" name=""/>
        <dsp:cNvSpPr/>
      </dsp:nvSpPr>
      <dsp:spPr>
        <a:xfrm>
          <a:off x="0" y="679976"/>
          <a:ext cx="7950200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**Beam Search** —</a:t>
          </a:r>
        </a:p>
      </dsp:txBody>
      <dsp:txXfrm>
        <a:off x="19419" y="699395"/>
        <a:ext cx="7911362" cy="358962"/>
      </dsp:txXfrm>
    </dsp:sp>
    <dsp:sp modelId="{F838E710-E591-4BB3-B2AE-B5385045AC5E}">
      <dsp:nvSpPr>
        <dsp:cNvPr id="0" name=""/>
        <dsp:cNvSpPr/>
      </dsp:nvSpPr>
      <dsp:spPr>
        <a:xfrm>
          <a:off x="0" y="1077776"/>
          <a:ext cx="7950200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241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300" kern="1200"/>
            <a:t> explore multiple best paths</a:t>
          </a:r>
          <a:endParaRPr lang="en-IN" sz="1300" kern="1200" dirty="0"/>
        </a:p>
      </dsp:txBody>
      <dsp:txXfrm>
        <a:off x="0" y="1077776"/>
        <a:ext cx="7950200" cy="281520"/>
      </dsp:txXfrm>
    </dsp:sp>
    <dsp:sp modelId="{026D5237-0094-4BE7-9D91-B2D4EC046598}">
      <dsp:nvSpPr>
        <dsp:cNvPr id="0" name=""/>
        <dsp:cNvSpPr/>
      </dsp:nvSpPr>
      <dsp:spPr>
        <a:xfrm>
          <a:off x="0" y="1359296"/>
          <a:ext cx="7950200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**Temperature** — </a:t>
          </a:r>
        </a:p>
      </dsp:txBody>
      <dsp:txXfrm>
        <a:off x="19419" y="1378715"/>
        <a:ext cx="7911362" cy="358962"/>
      </dsp:txXfrm>
    </dsp:sp>
    <dsp:sp modelId="{21D77FE5-FC36-4094-A7C7-88362E3BEAA4}">
      <dsp:nvSpPr>
        <dsp:cNvPr id="0" name=""/>
        <dsp:cNvSpPr/>
      </dsp:nvSpPr>
      <dsp:spPr>
        <a:xfrm>
          <a:off x="0" y="1757096"/>
          <a:ext cx="7950200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241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300" kern="1200"/>
            <a:t>controls randomness (0 = factual, &gt;1 = creative)</a:t>
          </a:r>
          <a:endParaRPr lang="en-IN" sz="1300" kern="1200" dirty="0"/>
        </a:p>
      </dsp:txBody>
      <dsp:txXfrm>
        <a:off x="0" y="1757096"/>
        <a:ext cx="7950200" cy="281520"/>
      </dsp:txXfrm>
    </dsp:sp>
    <dsp:sp modelId="{8C3F2B14-89F5-40A8-A764-1D7161F2976C}">
      <dsp:nvSpPr>
        <dsp:cNvPr id="0" name=""/>
        <dsp:cNvSpPr/>
      </dsp:nvSpPr>
      <dsp:spPr>
        <a:xfrm>
          <a:off x="0" y="2038616"/>
          <a:ext cx="7950200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**Top-k Sampling** — </a:t>
          </a:r>
        </a:p>
      </dsp:txBody>
      <dsp:txXfrm>
        <a:off x="19419" y="2058035"/>
        <a:ext cx="7911362" cy="358962"/>
      </dsp:txXfrm>
    </dsp:sp>
    <dsp:sp modelId="{936868E8-ED9A-45AE-9E48-2CE8E49AF35F}">
      <dsp:nvSpPr>
        <dsp:cNvPr id="0" name=""/>
        <dsp:cNvSpPr/>
      </dsp:nvSpPr>
      <dsp:spPr>
        <a:xfrm>
          <a:off x="0" y="2436416"/>
          <a:ext cx="7950200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241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300" kern="1200"/>
            <a:t>choose from top k likely tokens</a:t>
          </a:r>
          <a:endParaRPr lang="en-IN" sz="1300" kern="1200" dirty="0"/>
        </a:p>
      </dsp:txBody>
      <dsp:txXfrm>
        <a:off x="0" y="2436416"/>
        <a:ext cx="7950200" cy="281520"/>
      </dsp:txXfrm>
    </dsp:sp>
    <dsp:sp modelId="{23A938B9-FC38-4D68-A2C1-44D7C3B1DF97}">
      <dsp:nvSpPr>
        <dsp:cNvPr id="0" name=""/>
        <dsp:cNvSpPr/>
      </dsp:nvSpPr>
      <dsp:spPr>
        <a:xfrm>
          <a:off x="0" y="2717936"/>
          <a:ext cx="7950200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**Top-p Sampling (Nucleus)** —</a:t>
          </a:r>
        </a:p>
      </dsp:txBody>
      <dsp:txXfrm>
        <a:off x="19419" y="2737355"/>
        <a:ext cx="7911362" cy="358962"/>
      </dsp:txXfrm>
    </dsp:sp>
    <dsp:sp modelId="{17681013-3AA9-4907-B7E3-3864E9727A75}">
      <dsp:nvSpPr>
        <dsp:cNvPr id="0" name=""/>
        <dsp:cNvSpPr/>
      </dsp:nvSpPr>
      <dsp:spPr>
        <a:xfrm>
          <a:off x="0" y="3115736"/>
          <a:ext cx="7950200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241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300" kern="1200"/>
            <a:t> choose from smallest probability mass p</a:t>
          </a:r>
          <a:endParaRPr lang="en-IN" sz="1300" kern="1200" dirty="0"/>
        </a:p>
      </dsp:txBody>
      <dsp:txXfrm>
        <a:off x="0" y="3115736"/>
        <a:ext cx="7950200" cy="281520"/>
      </dsp:txXfrm>
    </dsp:sp>
    <dsp:sp modelId="{72CEBEB3-E4A1-4DDB-A371-80D517C5F66E}">
      <dsp:nvSpPr>
        <dsp:cNvPr id="0" name=""/>
        <dsp:cNvSpPr/>
      </dsp:nvSpPr>
      <dsp:spPr>
        <a:xfrm>
          <a:off x="0" y="3397256"/>
          <a:ext cx="7950200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Use different strategies based on task requirements.</a:t>
          </a:r>
        </a:p>
      </dsp:txBody>
      <dsp:txXfrm>
        <a:off x="19419" y="3416675"/>
        <a:ext cx="7911362" cy="3589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E01A22-60A5-4EA9-810C-37B27B33ED09}">
      <dsp:nvSpPr>
        <dsp:cNvPr id="0" name=""/>
        <dsp:cNvSpPr/>
      </dsp:nvSpPr>
      <dsp:spPr>
        <a:xfrm>
          <a:off x="0" y="52184"/>
          <a:ext cx="7086600" cy="18006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RAG is an LLM application design pattern that </a:t>
          </a:r>
          <a:r>
            <a:rPr lang="en-US" sz="2700" b="1" kern="1200"/>
            <a:t>combines an LLM's generative ability with an external knowledge base</a:t>
          </a:r>
          <a:r>
            <a:rPr lang="en-US" sz="2700" kern="1200"/>
            <a:t> to produce more accurate, grounded, and context-aware responses.</a:t>
          </a:r>
          <a:endParaRPr lang="en-IN" sz="2700" kern="1200"/>
        </a:p>
      </dsp:txBody>
      <dsp:txXfrm>
        <a:off x="87900" y="140084"/>
        <a:ext cx="6910800" cy="16248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477CB-E0AE-4281-99AD-4E48B34E3FDC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E0340-0FD0-49F3-BC20-FAFB939F8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697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context for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using the idea of predictive typing on steroids.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learners through block diagram on whiteboard.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0694192" cy="75565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7595" y="1996405"/>
            <a:ext cx="6208424" cy="1669893"/>
          </a:xfrm>
        </p:spPr>
        <p:txBody>
          <a:bodyPr anchor="b">
            <a:noAutofit/>
          </a:bodyPr>
          <a:lstStyle>
            <a:lvl1pPr algn="ctr">
              <a:defRPr sz="5289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7595" y="3964824"/>
            <a:ext cx="6208424" cy="1517967"/>
          </a:xfrm>
        </p:spPr>
        <p:txBody>
          <a:bodyPr anchor="t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3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8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2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6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0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93168" y="5569423"/>
            <a:ext cx="787359" cy="307857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47595" y="5569423"/>
            <a:ext cx="4753628" cy="307857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2474" y="5569423"/>
            <a:ext cx="483545" cy="307857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62073" y="3824890"/>
            <a:ext cx="59794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922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962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E7B2-5757-84C8-027D-B9D207CF5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24AC01-6A86-F68C-130D-9EF6BD492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702E7-4504-0CCE-A93D-256447F7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BF612D-5772-9532-CCC8-EFDB7139E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71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094" y="1808594"/>
            <a:ext cx="7713111" cy="2008140"/>
          </a:xfrm>
        </p:spPr>
        <p:txBody>
          <a:bodyPr anchor="b">
            <a:normAutofit/>
          </a:bodyPr>
          <a:lstStyle>
            <a:lvl1pPr algn="ctr">
              <a:defRPr sz="440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5094" y="4115262"/>
            <a:ext cx="7713111" cy="1201035"/>
          </a:xfrm>
        </p:spPr>
        <p:txBody>
          <a:bodyPr anchor="t">
            <a:normAutofit/>
          </a:bodyPr>
          <a:lstStyle>
            <a:lvl1pPr marL="0" indent="0" algn="ctr">
              <a:buNone/>
              <a:defRPr sz="2645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95096" y="3965997"/>
            <a:ext cx="77131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83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6279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2247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763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6282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28365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28365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1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3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396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logo with blue berries&#10;&#10;AI-generated content may be incorrect.">
            <a:extLst>
              <a:ext uri="{FF2B5EF4-FFF2-40B4-BE49-F238E27FC236}">
                <a16:creationId xmlns:a16="http://schemas.microsoft.com/office/drawing/2014/main" id="{6C57EB9D-5F81-1030-B64E-3071F0F486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9753" y="6567197"/>
            <a:ext cx="1759957" cy="989303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8E0AC622-5AD6-8CE0-1675-60E7267506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80500" y="6673850"/>
            <a:ext cx="1442724" cy="75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8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529959"/>
            <a:ext cx="2966644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8184" y="1082165"/>
            <a:ext cx="4508839" cy="539217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8" y="3339785"/>
            <a:ext cx="2966644" cy="2686760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495095" y="3209180"/>
            <a:ext cx="27290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90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2075704"/>
            <a:ext cx="4247658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61312" y="1138139"/>
            <a:ext cx="3425844" cy="5280224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3587004"/>
            <a:ext cx="4247657" cy="201506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574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5305874"/>
            <a:ext cx="7950742" cy="624461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00154" y="1138140"/>
            <a:ext cx="8293094" cy="370362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5930335"/>
            <a:ext cx="7950742" cy="54399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43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999240"/>
            <a:ext cx="7950742" cy="3413383"/>
          </a:xfrm>
        </p:spPr>
        <p:txBody>
          <a:bodyPr anchor="ctr">
            <a:normAutofit/>
          </a:bodyPr>
          <a:lstStyle>
            <a:lvl1pPr algn="ctr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711150"/>
            <a:ext cx="7950744" cy="17631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4" y="4561886"/>
            <a:ext cx="772584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783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428" y="1082164"/>
            <a:ext cx="7484737" cy="2612125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71345" y="3694288"/>
            <a:ext cx="6891300" cy="718334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83"/>
            </a:lvl1pPr>
            <a:lvl2pPr marL="503789" indent="0">
              <a:buFontTx/>
              <a:buNone/>
              <a:defRPr/>
            </a:lvl2pPr>
            <a:lvl3pPr marL="1007577" indent="0">
              <a:buFontTx/>
              <a:buNone/>
              <a:defRPr/>
            </a:lvl3pPr>
            <a:lvl4pPr marL="1511366" indent="0">
              <a:buFontTx/>
              <a:buNone/>
              <a:defRPr/>
            </a:lvl4pPr>
            <a:lvl5pPr marL="201515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6" y="4785784"/>
            <a:ext cx="7950746" cy="16885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993992" y="99757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7934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6958" y="3115894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7934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495095" y="4561886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476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83" y="3645566"/>
            <a:ext cx="7950735" cy="1618400"/>
          </a:xfrm>
        </p:spPr>
        <p:txBody>
          <a:bodyPr anchor="b">
            <a:normAutofit/>
          </a:bodyPr>
          <a:lstStyle>
            <a:lvl1pPr algn="l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5263966"/>
            <a:ext cx="7950737" cy="948033"/>
          </a:xfrm>
        </p:spPr>
        <p:txBody>
          <a:bodyPr anchor="t">
            <a:normAutofit/>
          </a:bodyPr>
          <a:lstStyle>
            <a:lvl1pPr marL="0" indent="0" algn="l">
              <a:buNone/>
              <a:defRPr sz="1983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233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8234" y="1082164"/>
            <a:ext cx="7396933" cy="2472190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4009983"/>
            <a:ext cx="7950737" cy="977307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991022"/>
            <a:ext cx="7950744" cy="1483313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026843" y="98824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8815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6012" y="2873330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8815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495095" y="3778250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213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082163"/>
            <a:ext cx="7950742" cy="25281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526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3929380"/>
            <a:ext cx="7950737" cy="99745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9" y="4925719"/>
            <a:ext cx="7950742" cy="1548616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9" y="3778250"/>
            <a:ext cx="772584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64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78" y="2743761"/>
            <a:ext cx="7950744" cy="373057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2584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7577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33769" y="999240"/>
            <a:ext cx="1893249" cy="547509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81" y="999240"/>
            <a:ext cx="5748415" cy="547509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7303779" y="999240"/>
            <a:ext cx="0" cy="5475094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818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0703302" cy="75565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2743761"/>
            <a:ext cx="7950744" cy="37958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3773" y="6567625"/>
            <a:ext cx="1342853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6279" y="6567625"/>
            <a:ext cx="5969624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64495" y="6567625"/>
            <a:ext cx="462527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534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20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</p:sldLayoutIdLst>
  <p:txStyles>
    <p:titleStyle>
      <a:lvl1pPr algn="ctr" defTabSz="503789" rtl="0" eaLnBrk="1" latinLnBrk="0" hangingPunct="1">
        <a:spcBef>
          <a:spcPct val="0"/>
        </a:spcBef>
        <a:buNone/>
        <a:defRPr sz="4408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14868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645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18657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20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322445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98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700287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76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204075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770838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274626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778415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282204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8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577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366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5155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943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732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521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3030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7100" y="1873250"/>
            <a:ext cx="5586786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4B0082"/>
                </a:solidFill>
              </a:defRPr>
            </a:pPr>
            <a:r>
              <a:rPr lang="en-IN" sz="4400" dirty="0"/>
              <a:t>LLM Fundamentals &amp;</a:t>
            </a:r>
          </a:p>
          <a:p>
            <a:pPr>
              <a:defRPr sz="6000" b="1">
                <a:solidFill>
                  <a:srgbClr val="4B0082"/>
                </a:solidFill>
              </a:defRPr>
            </a:pPr>
            <a:r>
              <a:rPr lang="en-IN" sz="4400" dirty="0"/>
              <a:t> Prompt Engineering</a:t>
            </a:r>
            <a:endParaRPr sz="4400" dirty="0">
              <a:solidFill>
                <a:schemeClr val="accent4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37100" y="3292195"/>
            <a:ext cx="4413388" cy="4163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0">
                <a:solidFill>
                  <a:srgbClr val="00BFFF"/>
                </a:solidFill>
              </a:defRPr>
            </a:pPr>
            <a:r>
              <a:rPr lang="en-IN" sz="2106" dirty="0">
                <a:solidFill>
                  <a:schemeClr val="accent5"/>
                </a:solidFill>
                <a:latin typeface="Calibri"/>
              </a:rPr>
              <a:t>Build Smarter Autonomous AI Systems</a:t>
            </a:r>
            <a:endParaRPr sz="2106" dirty="0">
              <a:solidFill>
                <a:schemeClr val="accent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4CC7AF-236A-9684-D2AA-E59A3B5FF2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1571521"/>
              </p:ext>
            </p:extLst>
          </p:nvPr>
        </p:nvGraphicFramePr>
        <p:xfrm>
          <a:off x="1782233" y="1401939"/>
          <a:ext cx="7128933" cy="4752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LLM Fundamentals &amp; Prompt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A complete journey from basics → advanced concepts</a:t>
            </a:r>
          </a:p>
          <a:p>
            <a:pPr>
              <a:defRPr sz="2200"/>
            </a:pPr>
            <a:r>
              <a:rPr dirty="0"/>
              <a:t>Includes illustrations, analogies, examples, and best practices</a:t>
            </a:r>
          </a:p>
          <a:p>
            <a:pPr>
              <a:defRPr sz="2200"/>
            </a:pPr>
            <a:r>
              <a:rPr dirty="0"/>
              <a:t>Hands-on Python exercises included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Are Large Language Models?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12F6F4-3249-5521-229F-50982219D3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0286589"/>
              </p:ext>
            </p:extLst>
          </p:nvPr>
        </p:nvGraphicFramePr>
        <p:xfrm>
          <a:off x="1376363" y="2743200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How LLMs Work (Illustration)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💡 Input Text → Tokenization → Neural Network (Transformer) → Output Tokens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⚙ Key Components:</a:t>
            </a:r>
          </a:p>
          <a:p>
            <a:pPr>
              <a:defRPr sz="2200"/>
            </a:pPr>
            <a:r>
              <a:rPr dirty="0"/>
              <a:t>• Embeddings — numeric representation of text</a:t>
            </a:r>
          </a:p>
          <a:p>
            <a:pPr>
              <a:defRPr sz="2200"/>
            </a:pPr>
            <a:r>
              <a:rPr dirty="0"/>
              <a:t>• Attention — decides which words matter most</a:t>
            </a:r>
          </a:p>
          <a:p>
            <a:pPr>
              <a:defRPr sz="2200"/>
            </a:pPr>
            <a:r>
              <a:rPr dirty="0"/>
              <a:t>• Decoder — predicts next token step-by-step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Transformer Architecture — Visual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🔹 Encoder (optional depending on model type)</a:t>
            </a:r>
          </a:p>
          <a:p>
            <a:pPr>
              <a:defRPr sz="2200"/>
            </a:pPr>
            <a:r>
              <a:rPr dirty="0"/>
              <a:t>🔹 Decoder (LLMs are usually decoder-only)</a:t>
            </a:r>
          </a:p>
          <a:p>
            <a:pPr>
              <a:defRPr sz="2200"/>
            </a:pPr>
            <a:r>
              <a:rPr dirty="0"/>
              <a:t>🔹 Multi-Head Attention mechanism</a:t>
            </a:r>
          </a:p>
          <a:p>
            <a:pPr>
              <a:defRPr sz="2200"/>
            </a:pPr>
            <a:r>
              <a:rPr dirty="0"/>
              <a:t>🔹 Feed-Forward layers</a:t>
            </a:r>
          </a:p>
          <a:p>
            <a:pPr>
              <a:defRPr sz="2200"/>
            </a:pPr>
            <a:r>
              <a:rPr dirty="0"/>
              <a:t>🔹 Residual connections &amp; </a:t>
            </a:r>
            <a:r>
              <a:rPr dirty="0" err="1"/>
              <a:t>LayerNorm</a:t>
            </a:r>
            <a:endParaRPr dirty="0"/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📌 LLMs use stacked Transformer blocks (e.g., 24–200 layers)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Training LLMs: The Three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2200"/>
            </a:pPr>
            <a:r>
              <a:rPr dirty="0"/>
              <a:t>1️⃣ **Pretraining** — Learn general language patterns using massive datasets</a:t>
            </a:r>
          </a:p>
          <a:p>
            <a:pPr>
              <a:defRPr sz="2200"/>
            </a:pPr>
            <a:r>
              <a:rPr dirty="0"/>
              <a:t>   • Example: next-token prediction on internet-scale text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2️⃣ **Fine-tuning** — Adapt to specific tasks/domains</a:t>
            </a:r>
          </a:p>
          <a:p>
            <a:pPr>
              <a:defRPr sz="2200"/>
            </a:pPr>
            <a:r>
              <a:rPr dirty="0"/>
              <a:t>   • Example: medical Q&amp;A, customer support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3️⃣ **Instruction Tuning / RLHF** — Make model follow human instructions</a:t>
            </a:r>
          </a:p>
          <a:p>
            <a:pPr>
              <a:defRPr sz="2200"/>
            </a:pPr>
            <a:r>
              <a:rPr dirty="0"/>
              <a:t>   • Use human ratings, preference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Tokenization (Illustrated)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200"/>
            </a:pPr>
            <a:r>
              <a:rPr dirty="0"/>
              <a:t>Text → </a:t>
            </a:r>
            <a:r>
              <a:rPr dirty="0" err="1"/>
              <a:t>Subword</a:t>
            </a:r>
            <a:r>
              <a:rPr dirty="0"/>
              <a:t> Units (Tokens)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Example:</a:t>
            </a:r>
          </a:p>
          <a:p>
            <a:pPr>
              <a:defRPr sz="2200"/>
            </a:pPr>
            <a:r>
              <a:rPr dirty="0"/>
              <a:t>"playing football" → ["play", "</a:t>
            </a:r>
            <a:r>
              <a:rPr dirty="0" err="1"/>
              <a:t>ing</a:t>
            </a:r>
            <a:r>
              <a:rPr dirty="0"/>
              <a:t>", " football"]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Why it matters:</a:t>
            </a:r>
          </a:p>
          <a:p>
            <a:pPr>
              <a:defRPr sz="2200"/>
            </a:pPr>
            <a:r>
              <a:rPr dirty="0"/>
              <a:t>• Models operate on tokens, not words</a:t>
            </a:r>
          </a:p>
          <a:p>
            <a:pPr>
              <a:defRPr sz="2200"/>
            </a:pPr>
            <a:r>
              <a:rPr dirty="0"/>
              <a:t>• Token count = cost + latency</a:t>
            </a:r>
          </a:p>
          <a:p>
            <a:pPr>
              <a:defRPr sz="2200"/>
            </a:pPr>
            <a:r>
              <a:rPr dirty="0"/>
              <a:t>• Different tokenizers → different token splits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Embeddings — Understanding Meaning As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200"/>
            </a:pPr>
            <a:r>
              <a:t>Embeddings convert words/sentences into vectors (e.g., 1536 dimensions)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Illustration:</a:t>
            </a:r>
          </a:p>
          <a:p>
            <a:pPr>
              <a:defRPr sz="2200"/>
            </a:pPr>
            <a:r>
              <a:t>• 'king' - 'man' + 'woman' ≈ 'queen' (semantic relation)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Use-cases:</a:t>
            </a:r>
          </a:p>
          <a:p>
            <a:pPr>
              <a:defRPr sz="2200"/>
            </a:pPr>
            <a:r>
              <a:t>• Semantic search</a:t>
            </a:r>
          </a:p>
          <a:p>
            <a:pPr>
              <a:defRPr sz="2200"/>
            </a:pPr>
            <a:r>
              <a:t>• Clustering</a:t>
            </a:r>
          </a:p>
          <a:p>
            <a:pPr>
              <a:defRPr sz="2200"/>
            </a:pPr>
            <a:r>
              <a:t>• RAG (Retrieval-Augmented Generation)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Attention Mechanism (Key Intuition)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Attention tells the model *where to look* in the input sequence.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Example:</a:t>
            </a:r>
          </a:p>
          <a:p>
            <a:pPr>
              <a:defRPr sz="2200"/>
            </a:pPr>
            <a:r>
              <a:rPr dirty="0"/>
              <a:t>Sentence: “The trophy doesn’t fit in the suitcase because it is too big.”</a:t>
            </a:r>
          </a:p>
          <a:p>
            <a:pPr>
              <a:defRPr sz="2200"/>
            </a:pPr>
            <a:r>
              <a:rPr dirty="0"/>
              <a:t>Attention helps model resolve what “it” refers to.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🧠 Multiple heads learn different patterns simultaneously.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Decoding Strategies (Detailed)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AF8767-9B24-6159-A213-D337BA42E8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1396300"/>
              </p:ext>
            </p:extLst>
          </p:nvPr>
        </p:nvGraphicFramePr>
        <p:xfrm>
          <a:off x="1376363" y="2743200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Prompt Engineering: Core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📌 Be explicit, specific, and structured</a:t>
            </a:r>
          </a:p>
          <a:p>
            <a:pPr>
              <a:defRPr sz="2200"/>
            </a:pPr>
            <a:r>
              <a:rPr dirty="0"/>
              <a:t>📌 Provide examples (few-shot)</a:t>
            </a:r>
          </a:p>
          <a:p>
            <a:pPr>
              <a:defRPr sz="2200"/>
            </a:pPr>
            <a:r>
              <a:rPr dirty="0"/>
              <a:t>📌 Reduce ambiguity</a:t>
            </a:r>
          </a:p>
          <a:p>
            <a:pPr>
              <a:defRPr sz="2200"/>
            </a:pPr>
            <a:r>
              <a:rPr dirty="0"/>
              <a:t>📌 Break complex tasks into steps</a:t>
            </a:r>
          </a:p>
          <a:p>
            <a:pPr>
              <a:defRPr sz="2200"/>
            </a:pPr>
            <a:r>
              <a:rPr dirty="0"/>
              <a:t>📌 Define output format (JSON, table, bullet list)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Prompt = Instruction + Context + Input + Output Format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Prompt Patterns (With Examples)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2200"/>
            </a:pPr>
            <a:r>
              <a:rPr dirty="0"/>
              <a:t>🔹 **Zero-shot Prompting** — No examples</a:t>
            </a:r>
          </a:p>
          <a:p>
            <a:pPr>
              <a:defRPr sz="2200"/>
            </a:pPr>
            <a:r>
              <a:rPr dirty="0"/>
              <a:t>   Example: “Summarize the paragraph below.”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🔹 **Few-shot Prompting** — Provide examples</a:t>
            </a:r>
          </a:p>
          <a:p>
            <a:pPr>
              <a:defRPr sz="2200"/>
            </a:pPr>
            <a:r>
              <a:rPr dirty="0"/>
              <a:t>   Example: Show 3 labeled examples → ask model to label 4th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🔹 **Chain-of-Thought** — Tell model to reason step-by-step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🔹 **Role Prompting**</a:t>
            </a:r>
          </a:p>
          <a:p>
            <a:pPr>
              <a:defRPr sz="2200"/>
            </a:pPr>
            <a:r>
              <a:rPr dirty="0"/>
              <a:t>   Example: “You are a Java performance expert…”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Advanced Prompting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🧩 Self-Consistency — generate multiple answers → choose consensus</a:t>
            </a:r>
          </a:p>
          <a:p>
            <a:pPr>
              <a:defRPr sz="2200"/>
            </a:pPr>
            <a:r>
              <a:rPr dirty="0"/>
              <a:t>🧩 </a:t>
            </a:r>
            <a:r>
              <a:rPr dirty="0" err="1"/>
              <a:t>ReAct</a:t>
            </a:r>
            <a:r>
              <a:rPr dirty="0"/>
              <a:t> Pattern — reasoning + action selection</a:t>
            </a:r>
          </a:p>
          <a:p>
            <a:pPr>
              <a:defRPr sz="2200"/>
            </a:pPr>
            <a:r>
              <a:rPr dirty="0"/>
              <a:t>🧩 Meta-Prompting — prompting to improve prompts</a:t>
            </a:r>
          </a:p>
          <a:p>
            <a:pPr>
              <a:defRPr sz="2200"/>
            </a:pPr>
            <a:r>
              <a:rPr dirty="0"/>
              <a:t>🧩 Prompt Chaining — break workflow into multiple LLM calls</a:t>
            </a:r>
          </a:p>
          <a:p>
            <a:pPr>
              <a:defRPr sz="2200"/>
            </a:pPr>
            <a:r>
              <a:rPr dirty="0"/>
              <a:t>🧩 Tool Use (Agentic AI) — LLM calls tools/APIs during reasoning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B1D4D-B327-8D78-485E-AABAAAE53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601A7-F047-3985-64A6-ACC1971B9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0" y="958850"/>
            <a:ext cx="7950744" cy="3795876"/>
          </a:xfrm>
        </p:spPr>
        <p:txBody>
          <a:bodyPr>
            <a:noAutofit/>
          </a:bodyPr>
          <a:lstStyle/>
          <a:p>
            <a:r>
              <a:rPr lang="en-US" sz="1800" b="1" dirty="0"/>
              <a:t>🧩 1. Self-Consistency</a:t>
            </a:r>
          </a:p>
          <a:p>
            <a:r>
              <a:rPr lang="en-US" sz="1800" dirty="0"/>
              <a:t>Generate </a:t>
            </a:r>
            <a:r>
              <a:rPr lang="en-US" sz="1800" b="1" dirty="0"/>
              <a:t>multiple reasoning paths</a:t>
            </a:r>
            <a:r>
              <a:rPr lang="en-US" sz="1800" dirty="0"/>
              <a:t>, then pick the </a:t>
            </a:r>
            <a:r>
              <a:rPr lang="en-US" sz="1800" b="1" dirty="0"/>
              <a:t>most common answer</a:t>
            </a:r>
            <a:r>
              <a:rPr lang="en-US" sz="1800" dirty="0"/>
              <a:t>.</a:t>
            </a:r>
          </a:p>
          <a:p>
            <a:r>
              <a:rPr lang="en-US" sz="1800" b="1" dirty="0"/>
              <a:t>Example</a:t>
            </a:r>
          </a:p>
          <a:p>
            <a:r>
              <a:rPr lang="en-US" sz="1800" b="1" dirty="0"/>
              <a:t>Prompt:</a:t>
            </a:r>
            <a:r>
              <a:rPr lang="en-US" sz="1800" dirty="0"/>
              <a:t> </a:t>
            </a:r>
            <a:r>
              <a:rPr lang="en-US" sz="1800" i="1" dirty="0"/>
              <a:t>“A farmer has 17 sheep. All but 9 die. How many remain?”</a:t>
            </a:r>
            <a:endParaRPr lang="en-US" sz="1800" dirty="0"/>
          </a:p>
          <a:p>
            <a:r>
              <a:rPr lang="en-US" sz="1800" b="1" dirty="0"/>
              <a:t>LLM generates three reasoning paths:</a:t>
            </a:r>
            <a:endParaRPr lang="en-US" sz="1800" dirty="0"/>
          </a:p>
          <a:p>
            <a:r>
              <a:rPr lang="en-US" sz="1800" dirty="0"/>
              <a:t>Path A → </a:t>
            </a:r>
            <a:r>
              <a:rPr lang="en-US" sz="1800" i="1" dirty="0"/>
              <a:t>“If all but 9 die, </a:t>
            </a:r>
            <a:r>
              <a:rPr lang="en-US" sz="1800" b="1" i="1" dirty="0"/>
              <a:t>9 remain</a:t>
            </a:r>
            <a:r>
              <a:rPr lang="en-US" sz="1800" i="1" dirty="0"/>
              <a:t>.”</a:t>
            </a:r>
            <a:endParaRPr lang="en-US" sz="1800" dirty="0"/>
          </a:p>
          <a:p>
            <a:r>
              <a:rPr lang="en-US" sz="1800" dirty="0"/>
              <a:t>Path B → </a:t>
            </a:r>
            <a:r>
              <a:rPr lang="en-US" sz="1800" i="1" dirty="0"/>
              <a:t>“All but 9 die → survivors = </a:t>
            </a:r>
            <a:r>
              <a:rPr lang="en-US" sz="1800" b="1" i="1" dirty="0"/>
              <a:t>9</a:t>
            </a:r>
            <a:r>
              <a:rPr lang="en-US" sz="1800" i="1" dirty="0"/>
              <a:t>.”</a:t>
            </a:r>
            <a:endParaRPr lang="en-US" sz="1800" dirty="0"/>
          </a:p>
          <a:p>
            <a:r>
              <a:rPr lang="en-US" sz="1800" dirty="0"/>
              <a:t>Path C → </a:t>
            </a:r>
            <a:r>
              <a:rPr lang="en-US" sz="1800" i="1" dirty="0"/>
              <a:t>“Trick question: remaining sheep = </a:t>
            </a:r>
            <a:r>
              <a:rPr lang="en-US" sz="1800" b="1" i="1" dirty="0"/>
              <a:t>9</a:t>
            </a:r>
            <a:r>
              <a:rPr lang="en-US" sz="1800" i="1" dirty="0"/>
              <a:t>.”</a:t>
            </a:r>
            <a:endParaRPr lang="en-US" sz="1800" dirty="0"/>
          </a:p>
          <a:p>
            <a:r>
              <a:rPr lang="en-US" sz="1800" b="1" dirty="0"/>
              <a:t>Consensus:</a:t>
            </a:r>
            <a:r>
              <a:rPr lang="en-US" sz="1800" dirty="0"/>
              <a:t> </a:t>
            </a:r>
            <a:r>
              <a:rPr lang="en-US" sz="1800" b="1" dirty="0"/>
              <a:t>9</a:t>
            </a:r>
            <a:br>
              <a:rPr lang="en-US" sz="1800" dirty="0"/>
            </a:br>
            <a:r>
              <a:rPr lang="en-US" sz="1800" dirty="0"/>
              <a:t>(Self-consistent answer)</a:t>
            </a:r>
          </a:p>
          <a:p>
            <a:r>
              <a:rPr lang="en-US" sz="1800" b="1" dirty="0"/>
              <a:t>Where used?</a:t>
            </a:r>
            <a:br>
              <a:rPr lang="en-US" sz="1800" dirty="0"/>
            </a:br>
            <a:r>
              <a:rPr lang="en-US" sz="1800" dirty="0"/>
              <a:t>Math problems, logical puzzles, coding solutions.</a:t>
            </a:r>
          </a:p>
          <a:p>
            <a:r>
              <a:rPr lang="en-US" sz="1800" b="1" dirty="0"/>
              <a:t>Where used?</a:t>
            </a:r>
            <a:br>
              <a:rPr lang="en-US" sz="1800" dirty="0"/>
            </a:br>
            <a:r>
              <a:rPr lang="en-US" sz="1800" dirty="0"/>
              <a:t>Agents, tool-using LLMs, retrieval-based assistants.</a:t>
            </a:r>
          </a:p>
          <a:p>
            <a:br>
              <a:rPr lang="en-US" sz="1800" dirty="0"/>
            </a:br>
            <a:endParaRPr lang="en-US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809472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C2351-BD83-7E24-C4BA-6A031DD0B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3300" y="1263650"/>
            <a:ext cx="7950744" cy="3795876"/>
          </a:xfrm>
        </p:spPr>
        <p:txBody>
          <a:bodyPr>
            <a:noAutofit/>
          </a:bodyPr>
          <a:lstStyle/>
          <a:p>
            <a:r>
              <a:rPr lang="en-US" sz="1800" b="1" dirty="0"/>
              <a:t>🧩 2. </a:t>
            </a:r>
            <a:r>
              <a:rPr lang="en-US" sz="1800" b="1" dirty="0" err="1"/>
              <a:t>ReAct</a:t>
            </a:r>
            <a:r>
              <a:rPr lang="en-US" sz="1800" b="1" dirty="0"/>
              <a:t> Pattern</a:t>
            </a:r>
          </a:p>
          <a:p>
            <a:r>
              <a:rPr lang="en-US" sz="1800" b="1" dirty="0"/>
              <a:t>Re</a:t>
            </a:r>
            <a:r>
              <a:rPr lang="en-US" sz="1800" dirty="0"/>
              <a:t>ason → </a:t>
            </a:r>
            <a:r>
              <a:rPr lang="en-US" sz="1800" b="1" dirty="0"/>
              <a:t>Act</a:t>
            </a:r>
            <a:r>
              <a:rPr lang="en-US" sz="1800" dirty="0"/>
              <a:t> using tools → continue.</a:t>
            </a:r>
          </a:p>
          <a:p>
            <a:r>
              <a:rPr lang="en-US" sz="1800" b="1" dirty="0"/>
              <a:t>Example</a:t>
            </a:r>
          </a:p>
          <a:p>
            <a:r>
              <a:rPr lang="en-US" sz="1800" b="1" dirty="0"/>
              <a:t>Task:</a:t>
            </a:r>
            <a:r>
              <a:rPr lang="en-US" sz="1800" dirty="0"/>
              <a:t> “Find the weather in Bangalore and write a short summary.”</a:t>
            </a:r>
          </a:p>
          <a:p>
            <a:r>
              <a:rPr lang="en-US" sz="1800" b="1" dirty="0"/>
              <a:t>LLM:</a:t>
            </a:r>
            <a:endParaRPr lang="en-US" sz="1800" dirty="0"/>
          </a:p>
          <a:p>
            <a:r>
              <a:rPr lang="en-US" sz="1800" b="1" dirty="0"/>
              <a:t>Reason:</a:t>
            </a:r>
            <a:r>
              <a:rPr lang="en-US" sz="1800" dirty="0"/>
              <a:t> “I need to call a weather API.”</a:t>
            </a:r>
          </a:p>
          <a:p>
            <a:r>
              <a:rPr lang="en-US" sz="1800" b="1" dirty="0"/>
              <a:t>Act:</a:t>
            </a:r>
            <a:r>
              <a:rPr lang="en-US" sz="1800" dirty="0"/>
              <a:t> </a:t>
            </a:r>
            <a:r>
              <a:rPr lang="en-US" sz="1800" dirty="0" err="1"/>
              <a:t>weather_api</a:t>
            </a:r>
            <a:r>
              <a:rPr lang="en-US" sz="1800" dirty="0"/>
              <a:t>(location="Bangalore")</a:t>
            </a:r>
          </a:p>
          <a:p>
            <a:r>
              <a:rPr lang="en-US" sz="1800" b="1" dirty="0"/>
              <a:t>Observation:</a:t>
            </a:r>
            <a:r>
              <a:rPr lang="en-US" sz="1800" dirty="0"/>
              <a:t> API returns: </a:t>
            </a:r>
            <a:r>
              <a:rPr lang="en-US" sz="1800" i="1" dirty="0"/>
              <a:t>28°C, cloudy</a:t>
            </a:r>
            <a:endParaRPr lang="en-US" sz="1800" dirty="0"/>
          </a:p>
          <a:p>
            <a:r>
              <a:rPr lang="en-US" sz="1800" b="1" dirty="0"/>
              <a:t>Reason:</a:t>
            </a:r>
            <a:r>
              <a:rPr lang="en-US" sz="1800" dirty="0"/>
              <a:t> “Now I can summarize.”</a:t>
            </a:r>
          </a:p>
          <a:p>
            <a:r>
              <a:rPr lang="en-US" sz="1800" b="1" dirty="0"/>
              <a:t>Answer:</a:t>
            </a:r>
            <a:r>
              <a:rPr lang="en-US" sz="1800" dirty="0"/>
              <a:t> “Bangalore is 28°C with cloudy skies today.”</a:t>
            </a:r>
          </a:p>
          <a:p>
            <a:r>
              <a:rPr lang="en-US" sz="1800" b="1" dirty="0"/>
              <a:t>Where used?</a:t>
            </a:r>
            <a:br>
              <a:rPr lang="en-US" sz="1800" dirty="0"/>
            </a:br>
            <a:r>
              <a:rPr lang="en-US" sz="1800" dirty="0"/>
              <a:t>Agents, tool-using LLMs, retrieval-based assistants.</a:t>
            </a:r>
          </a:p>
          <a:p>
            <a:br>
              <a:rPr lang="en-US" sz="1800" dirty="0"/>
            </a:br>
            <a:endParaRPr lang="en-US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210060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EA2FF-0321-0755-8853-C22976B60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0" y="1035050"/>
            <a:ext cx="7950744" cy="3795876"/>
          </a:xfrm>
        </p:spPr>
        <p:txBody>
          <a:bodyPr>
            <a:noAutofit/>
          </a:bodyPr>
          <a:lstStyle/>
          <a:p>
            <a:br>
              <a:rPr lang="en-US" sz="1800" dirty="0"/>
            </a:br>
            <a:r>
              <a:rPr lang="en-US" sz="1800" b="1" dirty="0"/>
              <a:t>🧩 3. Meta-Prompting</a:t>
            </a:r>
          </a:p>
          <a:p>
            <a:r>
              <a:rPr lang="en-US" sz="1800" dirty="0"/>
              <a:t>The LLM improves your </a:t>
            </a:r>
            <a:r>
              <a:rPr lang="en-US" sz="1800" b="1" dirty="0"/>
              <a:t>prompt</a:t>
            </a:r>
            <a:r>
              <a:rPr lang="en-US" sz="1800" dirty="0"/>
              <a:t> instead of giving the answer directly.</a:t>
            </a:r>
          </a:p>
          <a:p>
            <a:r>
              <a:rPr lang="en-US" sz="1800" b="1" dirty="0"/>
              <a:t>Example</a:t>
            </a:r>
          </a:p>
          <a:p>
            <a:r>
              <a:rPr lang="en-US" sz="1800" b="1" dirty="0"/>
              <a:t>Your prompt:</a:t>
            </a:r>
            <a:br>
              <a:rPr lang="en-US" sz="1800" dirty="0"/>
            </a:br>
            <a:r>
              <a:rPr lang="en-US" sz="1800" dirty="0"/>
              <a:t>“Fix my prompt: ‘Write code for chatbot’.”</a:t>
            </a:r>
          </a:p>
          <a:p>
            <a:r>
              <a:rPr lang="en-US" sz="1800" b="1" dirty="0"/>
              <a:t>Meta-prompt:</a:t>
            </a:r>
            <a:br>
              <a:rPr lang="en-US" sz="1800" dirty="0"/>
            </a:br>
            <a:r>
              <a:rPr lang="en-US" sz="1800" dirty="0"/>
              <a:t>“Make this prompt more specific, structured, and goal-focused.”</a:t>
            </a:r>
          </a:p>
          <a:p>
            <a:r>
              <a:rPr lang="en-US" sz="1800" b="1" dirty="0"/>
              <a:t>LLM output:</a:t>
            </a:r>
            <a:br>
              <a:rPr lang="en-US" sz="1800" dirty="0"/>
            </a:br>
            <a:r>
              <a:rPr lang="en-US" sz="1800" dirty="0"/>
              <a:t>“Write a Python chatbot using Flask that can answer FAQs. Include code comments, error handling, and an example API route.”</a:t>
            </a:r>
          </a:p>
          <a:p>
            <a:r>
              <a:rPr lang="en-US" sz="1800" b="1" dirty="0"/>
              <a:t>Where used?</a:t>
            </a:r>
            <a:br>
              <a:rPr lang="en-US" sz="1800" dirty="0"/>
            </a:br>
            <a:r>
              <a:rPr lang="en-US" sz="1800" dirty="0"/>
              <a:t>Prompt engineering, refining tasks for higher accuracy.</a:t>
            </a:r>
          </a:p>
          <a:p>
            <a:endParaRPr lang="en-US" sz="1800" dirty="0"/>
          </a:p>
          <a:p>
            <a:r>
              <a:rPr lang="en-US" sz="1800" dirty="0"/>
              <a:t>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940843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E94ED-1B1D-A046-D3AE-66CBD669D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65754-2D47-F09D-5659-DFC5C8F98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700" y="958850"/>
            <a:ext cx="7950744" cy="3795876"/>
          </a:xfrm>
        </p:spPr>
        <p:txBody>
          <a:bodyPr>
            <a:noAutofit/>
          </a:bodyPr>
          <a:lstStyle/>
          <a:p>
            <a:endParaRPr lang="en-US" sz="1800" dirty="0"/>
          </a:p>
          <a:p>
            <a:r>
              <a:rPr lang="en-US" sz="1800" b="1" dirty="0"/>
              <a:t>🧩 4. Prompt Chaining</a:t>
            </a:r>
          </a:p>
          <a:p>
            <a:r>
              <a:rPr lang="en-US" sz="1800" dirty="0"/>
              <a:t>Break a complex task into </a:t>
            </a:r>
            <a:r>
              <a:rPr lang="en-US" sz="1800" b="1" dirty="0"/>
              <a:t>multiple LLM calls</a:t>
            </a:r>
            <a:r>
              <a:rPr lang="en-US" sz="1800" dirty="0"/>
              <a:t> (steps).</a:t>
            </a:r>
          </a:p>
          <a:p>
            <a:r>
              <a:rPr lang="en-US" sz="1800" b="1" dirty="0"/>
              <a:t>Example</a:t>
            </a:r>
          </a:p>
          <a:p>
            <a:r>
              <a:rPr lang="en-US" sz="1800" b="1" dirty="0"/>
              <a:t>Goal:</a:t>
            </a:r>
            <a:r>
              <a:rPr lang="en-US" sz="1800" dirty="0"/>
              <a:t> Summarize a PDF and generate quiz questions.</a:t>
            </a:r>
          </a:p>
          <a:p>
            <a:r>
              <a:rPr lang="en-US" sz="1800" b="1" dirty="0"/>
              <a:t>Chain:</a:t>
            </a:r>
            <a:endParaRPr lang="en-US" sz="1800" dirty="0"/>
          </a:p>
          <a:p>
            <a:r>
              <a:rPr lang="en-US" sz="1800" b="1" dirty="0"/>
              <a:t>Call 1:</a:t>
            </a:r>
            <a:r>
              <a:rPr lang="en-US" sz="1800" dirty="0"/>
              <a:t> Extract key points from PDF</a:t>
            </a:r>
          </a:p>
          <a:p>
            <a:r>
              <a:rPr lang="en-US" sz="1800" b="1" dirty="0"/>
              <a:t>Call 2:</a:t>
            </a:r>
            <a:r>
              <a:rPr lang="en-US" sz="1800" dirty="0"/>
              <a:t> Summarize extracted points</a:t>
            </a:r>
          </a:p>
          <a:p>
            <a:r>
              <a:rPr lang="en-US" sz="1800" b="1" dirty="0"/>
              <a:t>Call 3:</a:t>
            </a:r>
            <a:r>
              <a:rPr lang="en-US" sz="1800" dirty="0"/>
              <a:t> Generate quiz questions from summary</a:t>
            </a:r>
          </a:p>
          <a:p>
            <a:r>
              <a:rPr lang="en-US" sz="1800" dirty="0"/>
              <a:t>Each step becomes the input for the next.</a:t>
            </a:r>
          </a:p>
          <a:p>
            <a:r>
              <a:rPr lang="en-US" sz="1800" b="1" dirty="0"/>
              <a:t>Where used?</a:t>
            </a:r>
            <a:br>
              <a:rPr lang="en-US" sz="1800" dirty="0"/>
            </a:br>
            <a:r>
              <a:rPr lang="en-US" sz="1800" dirty="0"/>
              <a:t>RAG systems, workflow orchestration, multi-step analytics.</a:t>
            </a:r>
          </a:p>
          <a:p>
            <a:br>
              <a:rPr lang="en-US" sz="1800" dirty="0"/>
            </a:br>
            <a:endParaRPr lang="en-US" sz="1800" dirty="0"/>
          </a:p>
          <a:p>
            <a:r>
              <a:rPr lang="en-US" sz="1800" dirty="0"/>
              <a:t>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624688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8AFD7-3E22-AEFB-AD5A-931799AF4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AC81D-D22B-2BF0-FE29-37B27575A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3300" y="730250"/>
            <a:ext cx="7950744" cy="5257800"/>
          </a:xfrm>
        </p:spPr>
        <p:txBody>
          <a:bodyPr>
            <a:normAutofit fontScale="85000" lnSpcReduction="20000"/>
          </a:bodyPr>
          <a:lstStyle/>
          <a:p>
            <a:br>
              <a:rPr lang="en-US" dirty="0"/>
            </a:br>
            <a:endParaRPr lang="en-US" dirty="0"/>
          </a:p>
          <a:p>
            <a:r>
              <a:rPr lang="en-US" b="1" dirty="0"/>
              <a:t>🧩 5. Tool Use (Agentic AI)</a:t>
            </a:r>
          </a:p>
          <a:p>
            <a:r>
              <a:rPr lang="en-US" dirty="0"/>
              <a:t>LLM decides when to call </a:t>
            </a:r>
            <a:r>
              <a:rPr lang="en-US" b="1" dirty="0"/>
              <a:t>external tools</a:t>
            </a:r>
            <a:r>
              <a:rPr lang="en-US" dirty="0"/>
              <a:t> during reasoning.</a:t>
            </a:r>
          </a:p>
          <a:p>
            <a:r>
              <a:rPr lang="en-US" b="1" dirty="0"/>
              <a:t>Example</a:t>
            </a:r>
          </a:p>
          <a:p>
            <a:r>
              <a:rPr lang="en-US" b="1" dirty="0"/>
              <a:t>Task:</a:t>
            </a:r>
            <a:r>
              <a:rPr lang="en-US" dirty="0"/>
              <a:t> “Find flight prices from Mumbai → Delhi for tomorrow.”</a:t>
            </a:r>
          </a:p>
          <a:p>
            <a:r>
              <a:rPr lang="en-US" dirty="0"/>
              <a:t>LLM reasoning:</a:t>
            </a:r>
          </a:p>
          <a:p>
            <a:r>
              <a:rPr lang="en-US" i="1" dirty="0"/>
              <a:t>“Need real-time data → call flight API.”</a:t>
            </a:r>
            <a:endParaRPr lang="en-US" dirty="0"/>
          </a:p>
          <a:p>
            <a:r>
              <a:rPr lang="en-US" dirty="0"/>
              <a:t>Act → </a:t>
            </a:r>
            <a:r>
              <a:rPr lang="en-US" dirty="0" err="1"/>
              <a:t>flight_api.search</a:t>
            </a:r>
            <a:r>
              <a:rPr lang="en-US" dirty="0"/>
              <a:t>("</a:t>
            </a:r>
            <a:r>
              <a:rPr lang="en-US" dirty="0" err="1"/>
              <a:t>Mumbai","Delhi","tomorrow</a:t>
            </a:r>
            <a:r>
              <a:rPr lang="en-US" dirty="0"/>
              <a:t>")</a:t>
            </a:r>
          </a:p>
          <a:p>
            <a:r>
              <a:rPr lang="en-US" dirty="0"/>
              <a:t>API returns prices</a:t>
            </a:r>
          </a:p>
          <a:p>
            <a:r>
              <a:rPr lang="en-US" dirty="0"/>
              <a:t>LLM summarizes result</a:t>
            </a:r>
          </a:p>
          <a:p>
            <a:r>
              <a:rPr lang="en-US" b="1" dirty="0"/>
              <a:t>Where used?</a:t>
            </a:r>
            <a:br>
              <a:rPr lang="en-US" dirty="0"/>
            </a:br>
            <a:r>
              <a:rPr lang="en-US" dirty="0"/>
              <a:t>AI agents, automation, data lookup, API orchestration.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1338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Evaluation of LLM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 sz="2200"/>
            </a:pPr>
            <a:r>
              <a:rPr dirty="0"/>
              <a:t>Quality Dimensions:</a:t>
            </a:r>
          </a:p>
          <a:p>
            <a:pPr>
              <a:defRPr sz="2200"/>
            </a:pPr>
            <a:r>
              <a:rPr dirty="0"/>
              <a:t>• Relevance</a:t>
            </a:r>
          </a:p>
          <a:p>
            <a:pPr>
              <a:defRPr sz="2200"/>
            </a:pPr>
            <a:r>
              <a:rPr dirty="0"/>
              <a:t>• Accuracy</a:t>
            </a:r>
          </a:p>
          <a:p>
            <a:pPr>
              <a:defRPr sz="2200"/>
            </a:pPr>
            <a:r>
              <a:rPr dirty="0"/>
              <a:t>• Consistency</a:t>
            </a:r>
          </a:p>
          <a:p>
            <a:pPr>
              <a:defRPr sz="2200"/>
            </a:pPr>
            <a:r>
              <a:rPr dirty="0"/>
              <a:t>• Style/Tone</a:t>
            </a:r>
          </a:p>
          <a:p>
            <a:pPr>
              <a:defRPr sz="2200"/>
            </a:pPr>
            <a:r>
              <a:rPr dirty="0"/>
              <a:t>• Safety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Methods:</a:t>
            </a:r>
          </a:p>
          <a:p>
            <a:pPr>
              <a:defRPr sz="2200"/>
            </a:pPr>
            <a:r>
              <a:rPr dirty="0"/>
              <a:t>• Human evaluation</a:t>
            </a:r>
          </a:p>
          <a:p>
            <a:pPr>
              <a:defRPr sz="2200"/>
            </a:pPr>
            <a:r>
              <a:rPr dirty="0"/>
              <a:t>• A/B testing</a:t>
            </a:r>
          </a:p>
          <a:p>
            <a:pPr>
              <a:defRPr sz="2200"/>
            </a:pPr>
            <a:r>
              <a:rPr dirty="0"/>
              <a:t>• Reference-based metrics (ROUGE, BLEU)</a:t>
            </a:r>
          </a:p>
          <a:p>
            <a:pPr>
              <a:defRPr sz="2200"/>
            </a:pPr>
            <a:r>
              <a:rPr dirty="0"/>
              <a:t>• Model-based evaluators (LLM-as-a-judge)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Safety &amp; Hallucination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200"/>
            </a:pPr>
            <a:r>
              <a:rPr dirty="0"/>
              <a:t>🚨 Prompts to reduce hallucination:</a:t>
            </a:r>
          </a:p>
          <a:p>
            <a:pPr>
              <a:defRPr sz="2200"/>
            </a:pPr>
            <a:r>
              <a:rPr dirty="0"/>
              <a:t>• “If unsure, state ‘I don’t know’.”</a:t>
            </a:r>
          </a:p>
          <a:p>
            <a:pPr>
              <a:defRPr sz="2200"/>
            </a:pPr>
            <a:r>
              <a:rPr dirty="0"/>
              <a:t>• “Cite sources from given context only.”</a:t>
            </a:r>
          </a:p>
          <a:p>
            <a:pPr>
              <a:defRPr sz="2200"/>
            </a:pPr>
            <a:r>
              <a:rPr dirty="0"/>
              <a:t>• “Verify your answer before responding.”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Best Practices:</a:t>
            </a:r>
          </a:p>
          <a:p>
            <a:pPr>
              <a:defRPr sz="2200"/>
            </a:pPr>
            <a:r>
              <a:rPr dirty="0"/>
              <a:t>• Use retrieval (RAG)</a:t>
            </a:r>
          </a:p>
          <a:p>
            <a:pPr>
              <a:defRPr sz="2200"/>
            </a:pPr>
            <a:r>
              <a:rPr dirty="0"/>
              <a:t>• Add validation rules</a:t>
            </a:r>
          </a:p>
          <a:p>
            <a:pPr>
              <a:defRPr sz="2200"/>
            </a:pPr>
            <a:r>
              <a:rPr dirty="0"/>
              <a:t>• Avoid open-ended generative prompts for factual tasks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RAG (Retrieval-Augmented Generation) —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 sz="2200"/>
            </a:pPr>
            <a:r>
              <a:rPr dirty="0"/>
              <a:t>Pipeline:</a:t>
            </a:r>
          </a:p>
          <a:p>
            <a:pPr>
              <a:defRPr sz="2200"/>
            </a:pPr>
            <a:r>
              <a:rPr dirty="0"/>
              <a:t>1. User Query</a:t>
            </a:r>
          </a:p>
          <a:p>
            <a:pPr>
              <a:defRPr sz="2200"/>
            </a:pPr>
            <a:r>
              <a:rPr dirty="0"/>
              <a:t>2. Embed query</a:t>
            </a:r>
          </a:p>
          <a:p>
            <a:pPr>
              <a:defRPr sz="2200"/>
            </a:pPr>
            <a:r>
              <a:rPr dirty="0"/>
              <a:t>3. Retrieve most relevant documents</a:t>
            </a:r>
          </a:p>
          <a:p>
            <a:pPr>
              <a:defRPr sz="2200"/>
            </a:pPr>
            <a:r>
              <a:rPr dirty="0"/>
              <a:t>4. Construct context</a:t>
            </a:r>
          </a:p>
          <a:p>
            <a:pPr>
              <a:defRPr sz="2200"/>
            </a:pPr>
            <a:r>
              <a:rPr dirty="0"/>
              <a:t>5. LLM generates grounded answer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Benefits:</a:t>
            </a:r>
          </a:p>
          <a:p>
            <a:pPr>
              <a:defRPr sz="2200"/>
            </a:pPr>
            <a:r>
              <a:rPr dirty="0"/>
              <a:t>• Lower hallucinations</a:t>
            </a:r>
          </a:p>
          <a:p>
            <a:pPr>
              <a:defRPr sz="2200"/>
            </a:pPr>
            <a:r>
              <a:rPr dirty="0"/>
              <a:t>• Domain-specific accuracy</a:t>
            </a:r>
          </a:p>
          <a:p>
            <a:pPr>
              <a:defRPr sz="2200"/>
            </a:pPr>
            <a:r>
              <a:rPr dirty="0"/>
              <a:t>• Updatable knowledge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Wrapping Up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🔹 Understand LLM internals → better prompts</a:t>
            </a:r>
          </a:p>
          <a:p>
            <a:pPr>
              <a:defRPr sz="2200"/>
            </a:pPr>
            <a:r>
              <a:rPr dirty="0"/>
              <a:t>🔹 Use structure, clarity, and examples</a:t>
            </a:r>
          </a:p>
          <a:p>
            <a:pPr>
              <a:defRPr sz="2200"/>
            </a:pPr>
            <a:r>
              <a:rPr dirty="0"/>
              <a:t>🔹 Evaluate prompts systematically</a:t>
            </a:r>
          </a:p>
          <a:p>
            <a:pPr>
              <a:defRPr sz="2200"/>
            </a:pPr>
            <a:r>
              <a:rPr dirty="0"/>
              <a:t>🔹 Apply RAG</a:t>
            </a:r>
            <a:r>
              <a:rPr lang="en-IN" dirty="0"/>
              <a:t> </a:t>
            </a:r>
            <a:r>
              <a:rPr dirty="0"/>
              <a:t>for advanced workflows</a:t>
            </a:r>
          </a:p>
          <a:p>
            <a:pPr>
              <a:defRPr sz="2200"/>
            </a:pPr>
            <a:r>
              <a:rPr dirty="0"/>
              <a:t>🔹 Experiment + iterate to improve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9FE103-E0F8-EF88-E461-F678D3195F22}"/>
              </a:ext>
            </a:extLst>
          </p:cNvPr>
          <p:cNvSpPr txBox="1"/>
          <p:nvPr/>
        </p:nvSpPr>
        <p:spPr>
          <a:xfrm>
            <a:off x="1841500" y="1035050"/>
            <a:ext cx="6324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Explain the </a:t>
            </a:r>
            <a:r>
              <a:rPr lang="en-US" sz="2400" b="1" dirty="0"/>
              <a:t>Retrieval-Augmented Generation (RAG)</a:t>
            </a:r>
            <a:r>
              <a:rPr lang="en-US" sz="2400" dirty="0"/>
              <a:t> pattern. How is it typically implemented in Python, and what problem does it solve for LLMs?</a:t>
            </a:r>
            <a:endParaRPr lang="en-IN" sz="240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4387887-C314-0883-BA93-2C11F59F25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848770"/>
              </p:ext>
            </p:extLst>
          </p:nvPr>
        </p:nvGraphicFramePr>
        <p:xfrm>
          <a:off x="1803400" y="3384372"/>
          <a:ext cx="7086600" cy="190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0781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B4EDF4-BDC4-C074-0924-D1E8DB89736A}"/>
              </a:ext>
            </a:extLst>
          </p:cNvPr>
          <p:cNvSpPr txBox="1"/>
          <p:nvPr/>
        </p:nvSpPr>
        <p:spPr>
          <a:xfrm>
            <a:off x="1536700" y="806450"/>
            <a:ext cx="708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Transformer is the foundation of LLMs. What is the fundamental mechanism that allows it to capture long-range dependencies in text, and how is it calculated?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89646F-BB05-0532-CFC8-6B523F0AB8C6}"/>
              </a:ext>
            </a:extLst>
          </p:cNvPr>
          <p:cNvSpPr txBox="1"/>
          <p:nvPr/>
        </p:nvSpPr>
        <p:spPr>
          <a:xfrm>
            <a:off x="1523124" y="1729780"/>
            <a:ext cx="746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fundamental mechanism is the </a:t>
            </a:r>
            <a:r>
              <a:rPr lang="en-US" b="1" dirty="0"/>
              <a:t>Self-Attention Mechanism</a:t>
            </a:r>
            <a:r>
              <a:rPr lang="en-US" dirty="0"/>
              <a:t> (specifically, Scaled Dot-Product Attention).</a:t>
            </a:r>
          </a:p>
          <a:p>
            <a:r>
              <a:rPr lang="en-US" b="1" dirty="0"/>
              <a:t>Function:</a:t>
            </a:r>
            <a:r>
              <a:rPr lang="en-US" dirty="0"/>
              <a:t> It allows the model to </a:t>
            </a:r>
            <a:r>
              <a:rPr lang="en-US" b="1" dirty="0"/>
              <a:t>weigh the importance of every other token</a:t>
            </a:r>
            <a:r>
              <a:rPr lang="en-US" dirty="0"/>
              <a:t> in the input sequence when processing a specific token</a:t>
            </a:r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EBE28D7-8102-30A4-C460-79963BFD23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124" y="2961421"/>
            <a:ext cx="7785976" cy="350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50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131</TotalTime>
  <Words>1456</Words>
  <Application>Microsoft Office PowerPoint</Application>
  <PresentationFormat>Custom</PresentationFormat>
  <Paragraphs>214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Garamond</vt:lpstr>
      <vt:lpstr>Organic</vt:lpstr>
      <vt:lpstr>PowerPoint Presentation</vt:lpstr>
      <vt:lpstr>PowerPoint Presentation</vt:lpstr>
      <vt:lpstr>LLM Fundamentals &amp; Prompt Engineering</vt:lpstr>
      <vt:lpstr>What Are Large Language Models?</vt:lpstr>
      <vt:lpstr>How LLMs Work (Illustration)</vt:lpstr>
      <vt:lpstr>Transformer Architecture — Visual Breakdown</vt:lpstr>
      <vt:lpstr>Training LLMs: The Three Stages</vt:lpstr>
      <vt:lpstr>Tokenization (Illustrated)</vt:lpstr>
      <vt:lpstr>Embeddings — Understanding Meaning As Numbers</vt:lpstr>
      <vt:lpstr>Attention Mechanism (Key Intuition)</vt:lpstr>
      <vt:lpstr>Decoding Strategies (Detailed)</vt:lpstr>
      <vt:lpstr>Prompt Engineering: Core Principles</vt:lpstr>
      <vt:lpstr>Prompt Patterns (With Examples)</vt:lpstr>
      <vt:lpstr>Advanced Prompting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Evaluation of LLM Outputs</vt:lpstr>
      <vt:lpstr>Safety &amp; Hallucination Control</vt:lpstr>
      <vt:lpstr>RAG (Retrieval-Augmented Generation) — Introduction</vt:lpstr>
      <vt:lpstr>Wrapping Up — Key Takeaways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VISHWA</dc:creator>
  <cp:lastModifiedBy>vishwa rudra</cp:lastModifiedBy>
  <cp:revision>41</cp:revision>
  <dcterms:created xsi:type="dcterms:W3CDTF">2025-10-04T15:17:48Z</dcterms:created>
  <dcterms:modified xsi:type="dcterms:W3CDTF">2025-12-13T13:31:17Z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2025-10-04T00:00:00Z</vt:filetime>
  </property>
  <property fmtid="{D5CDD505-2E9C-101B-9397-08002B2CF9AE}" pid="3" name="LastSaved">
    <vt:filetime>2025-10-04T00:00:00Z</vt:filetime>
  </property>
  <property fmtid="{D5CDD505-2E9C-101B-9397-08002B2CF9AE}" pid="4" name="Producer">
    <vt:lpwstr>3-Heights(TM) PDF Security Shell 4.8.25.2 (http://www.pdf-tools.com)</vt:lpwstr>
  </property>
</Properties>
</file>