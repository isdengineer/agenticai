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2"/>
  </p:notesMasterIdLst>
  <p:sldIdLst>
    <p:sldId id="286" r:id="rId2"/>
    <p:sldId id="284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Api 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E25D2627-33EE-4038-A688-038342D84C53}">
      <dgm:prSet phldrT="[Text]" phldr="0"/>
      <dgm:spPr/>
      <dgm:t>
        <a:bodyPr/>
        <a:lstStyle/>
        <a:p>
          <a:endParaRPr lang="en-IN" dirty="0"/>
        </a:p>
      </dgm:t>
    </dgm:pt>
    <dgm:pt modelId="{CA72544C-F4E9-44AB-A759-C3F2DCF39B4D}" type="parTrans" cxnId="{C9974BD5-22BF-4E7C-83C5-3FD637AA5E1B}">
      <dgm:prSet/>
      <dgm:spPr/>
    </dgm:pt>
    <dgm:pt modelId="{FCA566F7-E922-4F28-A03D-13CFCF787E4E}" type="sibTrans" cxnId="{C9974BD5-22BF-4E7C-83C5-3FD637AA5E1B}">
      <dgm:prSet/>
      <dgm:spPr/>
    </dgm:pt>
    <dgm:pt modelId="{2B5D5732-1B99-42FD-BAE4-C55C2544163F}">
      <dgm:prSet phldrT="[Text]" phldr="0"/>
      <dgm:spPr/>
      <dgm:t>
        <a:bodyPr/>
        <a:lstStyle/>
        <a:p>
          <a:r>
            <a:rPr lang="en-IN" dirty="0"/>
            <a:t>Tools</a:t>
          </a:r>
        </a:p>
      </dgm:t>
    </dgm:pt>
    <dgm:pt modelId="{6E427D19-74C6-48EC-8E4C-F2B7036C883C}" type="parTrans" cxnId="{81F30F91-AF88-45A2-8B4D-EED282A24006}">
      <dgm:prSet/>
      <dgm:spPr/>
    </dgm:pt>
    <dgm:pt modelId="{882C96EA-EE91-4F22-83AA-1B7842B90CA6}" type="sibTrans" cxnId="{81F30F91-AF88-45A2-8B4D-EED282A24006}">
      <dgm:prSet/>
      <dgm:spPr/>
    </dgm:pt>
    <dgm:pt modelId="{D4185FA9-E4D4-4BE3-BEB3-DB768E194362}">
      <dgm:prSet phldrT="[Text]" phldr="0"/>
      <dgm:spPr/>
      <dgm:t>
        <a:bodyPr/>
        <a:lstStyle/>
        <a:p>
          <a:r>
            <a:rPr lang="en-IN"/>
            <a:t>Rest basics</a:t>
          </a:r>
          <a:endParaRPr lang="en-IN" dirty="0"/>
        </a:p>
      </dgm:t>
    </dgm:pt>
    <dgm:pt modelId="{42417934-8BBF-45B6-B923-ACCFB6916DFD}" type="parTrans" cxnId="{82072CC6-908A-4C71-8F0F-58946E987FB6}">
      <dgm:prSet/>
      <dgm:spPr/>
    </dgm:pt>
    <dgm:pt modelId="{1CC0C2C6-5280-4925-9BD1-E3B9EC129614}" type="sibTrans" cxnId="{82072CC6-908A-4C71-8F0F-58946E987FB6}">
      <dgm:prSet/>
      <dgm:spPr/>
    </dgm:pt>
    <dgm:pt modelId="{3DFA01DB-D9CC-486D-95B8-BFAC4F3CF818}">
      <dgm:prSet phldrT="[Text]" phldr="0"/>
      <dgm:spPr/>
      <dgm:t>
        <a:bodyPr/>
        <a:lstStyle/>
        <a:p>
          <a:r>
            <a:rPr lang="en-IN"/>
            <a:t>Common patterns</a:t>
          </a:r>
          <a:endParaRPr lang="en-IN" dirty="0"/>
        </a:p>
      </dgm:t>
    </dgm:pt>
    <dgm:pt modelId="{DFC92B14-23E7-4E8F-AE97-0692692171B4}" type="parTrans" cxnId="{4BD7D4AB-C797-465B-9869-E5749E42ED9D}">
      <dgm:prSet/>
      <dgm:spPr/>
    </dgm:pt>
    <dgm:pt modelId="{DF805C2A-0E8D-4214-86E0-5B0D3A643A8D}" type="sibTrans" cxnId="{4BD7D4AB-C797-465B-9869-E5749E42ED9D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835F766-6797-4F0F-A80E-6374A02C02CA}" type="pres">
      <dgm:prSet presAssocID="{3FA4A193-E0A3-407D-8D9A-10FCCD2B83EF}" presName="spacer" presStyleCnt="0"/>
      <dgm:spPr/>
    </dgm:pt>
    <dgm:pt modelId="{A52DD921-21B2-45E7-9315-369925AB9CE7}" type="pres">
      <dgm:prSet presAssocID="{D4185FA9-E4D4-4BE3-BEB3-DB768E1943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00C266F-415C-41E3-9BA6-B0F22CC3FBF8}" type="pres">
      <dgm:prSet presAssocID="{1CC0C2C6-5280-4925-9BD1-E3B9EC129614}" presName="spacer" presStyleCnt="0"/>
      <dgm:spPr/>
    </dgm:pt>
    <dgm:pt modelId="{EB91C01D-EA4F-4F95-B3DA-891714E30077}" type="pres">
      <dgm:prSet presAssocID="{2B5D5732-1B99-42FD-BAE4-C55C254416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BFB82-76E4-462E-9021-7A91EA51B11A}" type="pres">
      <dgm:prSet presAssocID="{882C96EA-EE91-4F22-83AA-1B7842B90CA6}" presName="spacer" presStyleCnt="0"/>
      <dgm:spPr/>
    </dgm:pt>
    <dgm:pt modelId="{98D62A8D-55C9-4171-A0E6-423205E667AC}" type="pres">
      <dgm:prSet presAssocID="{3DFA01DB-D9CC-486D-95B8-BFAC4F3CF81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64510C-E246-48F3-9E06-EAF6F6040EA9}" type="pres">
      <dgm:prSet presAssocID="{3DFA01DB-D9CC-486D-95B8-BFAC4F3CF81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2688C09-E2CE-493D-A6B2-028EC452AEBB}" type="presOf" srcId="{2B5D5732-1B99-42FD-BAE4-C55C2544163F}" destId="{EB91C01D-EA4F-4F95-B3DA-891714E30077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AB2BEF4B-0748-4B77-B35A-16D3EB78D3C8}" type="presOf" srcId="{3DFA01DB-D9CC-486D-95B8-BFAC4F3CF818}" destId="{98D62A8D-55C9-4171-A0E6-423205E667AC}" srcOrd="0" destOrd="0" presId="urn:microsoft.com/office/officeart/2005/8/layout/vList2"/>
    <dgm:cxn modelId="{EFAFE190-0E80-4CFA-ACA8-3788AD975217}" type="presOf" srcId="{33530723-DC20-49DC-BDF1-C327B49DB98B}" destId="{5001E592-11D5-4BFB-8AFD-90D8F5F51859}" srcOrd="0" destOrd="0" presId="urn:microsoft.com/office/officeart/2005/8/layout/vList2"/>
    <dgm:cxn modelId="{81F30F91-AF88-45A2-8B4D-EED282A24006}" srcId="{A3ADC42E-D92D-4CE3-B515-AB4674633F03}" destId="{2B5D5732-1B99-42FD-BAE4-C55C2544163F}" srcOrd="2" destOrd="0" parTransId="{6E427D19-74C6-48EC-8E4C-F2B7036C883C}" sibTransId="{882C96EA-EE91-4F22-83AA-1B7842B90CA6}"/>
    <dgm:cxn modelId="{0827A0A0-A251-45DE-8CEB-693D2A4CBAEE}" type="presOf" srcId="{E25D2627-33EE-4038-A688-038342D84C53}" destId="{0664510C-E246-48F3-9E06-EAF6F6040EA9}" srcOrd="0" destOrd="0" presId="urn:microsoft.com/office/officeart/2005/8/layout/vList2"/>
    <dgm:cxn modelId="{4BD7D4AB-C797-465B-9869-E5749E42ED9D}" srcId="{A3ADC42E-D92D-4CE3-B515-AB4674633F03}" destId="{3DFA01DB-D9CC-486D-95B8-BFAC4F3CF818}" srcOrd="3" destOrd="0" parTransId="{DFC92B14-23E7-4E8F-AE97-0692692171B4}" sibTransId="{DF805C2A-0E8D-4214-86E0-5B0D3A643A8D}"/>
    <dgm:cxn modelId="{CF18B9BD-60CD-4BD5-9365-EA6B7E42BA28}" type="presOf" srcId="{D4185FA9-E4D4-4BE3-BEB3-DB768E194362}" destId="{A52DD921-21B2-45E7-9315-369925AB9CE7}" srcOrd="0" destOrd="0" presId="urn:microsoft.com/office/officeart/2005/8/layout/vList2"/>
    <dgm:cxn modelId="{82072CC6-908A-4C71-8F0F-58946E987FB6}" srcId="{A3ADC42E-D92D-4CE3-B515-AB4674633F03}" destId="{D4185FA9-E4D4-4BE3-BEB3-DB768E194362}" srcOrd="1" destOrd="0" parTransId="{42417934-8BBF-45B6-B923-ACCFB6916DFD}" sibTransId="{1CC0C2C6-5280-4925-9BD1-E3B9EC129614}"/>
    <dgm:cxn modelId="{C9974BD5-22BF-4E7C-83C5-3FD637AA5E1B}" srcId="{3DFA01DB-D9CC-486D-95B8-BFAC4F3CF818}" destId="{E25D2627-33EE-4038-A688-038342D84C53}" srcOrd="0" destOrd="0" parTransId="{CA72544C-F4E9-44AB-A759-C3F2DCF39B4D}" sibTransId="{FCA566F7-E922-4F28-A03D-13CFCF787E4E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E977D569-A0A4-49E5-B728-29A81A7F5589}" type="presParOf" srcId="{BD18783E-6D04-4A3E-834F-C1539812ED22}" destId="{5001E592-11D5-4BFB-8AFD-90D8F5F51859}" srcOrd="0" destOrd="0" presId="urn:microsoft.com/office/officeart/2005/8/layout/vList2"/>
    <dgm:cxn modelId="{FD4F26C9-C92B-4CA1-A4BC-ABDD06054BFA}" type="presParOf" srcId="{BD18783E-6D04-4A3E-834F-C1539812ED22}" destId="{0835F766-6797-4F0F-A80E-6374A02C02CA}" srcOrd="1" destOrd="0" presId="urn:microsoft.com/office/officeart/2005/8/layout/vList2"/>
    <dgm:cxn modelId="{4F216417-833B-4AB8-8738-E4A0C8CCA254}" type="presParOf" srcId="{BD18783E-6D04-4A3E-834F-C1539812ED22}" destId="{A52DD921-21B2-45E7-9315-369925AB9CE7}" srcOrd="2" destOrd="0" presId="urn:microsoft.com/office/officeart/2005/8/layout/vList2"/>
    <dgm:cxn modelId="{94FE20C2-EC6C-439B-BC0A-3415AA113DAE}" type="presParOf" srcId="{BD18783E-6D04-4A3E-834F-C1539812ED22}" destId="{D00C266F-415C-41E3-9BA6-B0F22CC3FBF8}" srcOrd="3" destOrd="0" presId="urn:microsoft.com/office/officeart/2005/8/layout/vList2"/>
    <dgm:cxn modelId="{0FBAEBBB-B566-46CF-89C0-5ECE6675FE55}" type="presParOf" srcId="{BD18783E-6D04-4A3E-834F-C1539812ED22}" destId="{EB91C01D-EA4F-4F95-B3DA-891714E30077}" srcOrd="4" destOrd="0" presId="urn:microsoft.com/office/officeart/2005/8/layout/vList2"/>
    <dgm:cxn modelId="{98BC5B8A-3B3D-4154-A6EB-BA5C8E31EE87}" type="presParOf" srcId="{BD18783E-6D04-4A3E-834F-C1539812ED22}" destId="{E22BFB82-76E4-462E-9021-7A91EA51B11A}" srcOrd="5" destOrd="0" presId="urn:microsoft.com/office/officeart/2005/8/layout/vList2"/>
    <dgm:cxn modelId="{987226B0-EF2E-4E09-AFF2-2CA87283B446}" type="presParOf" srcId="{BD18783E-6D04-4A3E-834F-C1539812ED22}" destId="{98D62A8D-55C9-4171-A0E6-423205E667AC}" srcOrd="6" destOrd="0" presId="urn:microsoft.com/office/officeart/2005/8/layout/vList2"/>
    <dgm:cxn modelId="{C4D686F2-89AC-4D22-BF9F-40AC67C66278}" type="presParOf" srcId="{BD18783E-6D04-4A3E-834F-C1539812ED22}" destId="{0664510C-E246-48F3-9E06-EAF6F6040EA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310"/>
          <a:ext cx="712893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Api </a:t>
          </a:r>
        </a:p>
      </dsp:txBody>
      <dsp:txXfrm>
        <a:off x="45692" y="46002"/>
        <a:ext cx="7037549" cy="844616"/>
      </dsp:txXfrm>
    </dsp:sp>
    <dsp:sp modelId="{A52DD921-21B2-45E7-9315-369925AB9CE7}">
      <dsp:nvSpPr>
        <dsp:cNvPr id="0" name=""/>
        <dsp:cNvSpPr/>
      </dsp:nvSpPr>
      <dsp:spPr>
        <a:xfrm>
          <a:off x="0" y="1051510"/>
          <a:ext cx="712893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Rest basics</a:t>
          </a:r>
          <a:endParaRPr lang="en-IN" sz="4000" kern="1200" dirty="0"/>
        </a:p>
      </dsp:txBody>
      <dsp:txXfrm>
        <a:off x="45692" y="1097202"/>
        <a:ext cx="7037549" cy="844616"/>
      </dsp:txXfrm>
    </dsp:sp>
    <dsp:sp modelId="{EB91C01D-EA4F-4F95-B3DA-891714E30077}">
      <dsp:nvSpPr>
        <dsp:cNvPr id="0" name=""/>
        <dsp:cNvSpPr/>
      </dsp:nvSpPr>
      <dsp:spPr>
        <a:xfrm>
          <a:off x="0" y="2102711"/>
          <a:ext cx="712893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Tools</a:t>
          </a:r>
        </a:p>
      </dsp:txBody>
      <dsp:txXfrm>
        <a:off x="45692" y="2148403"/>
        <a:ext cx="7037549" cy="844616"/>
      </dsp:txXfrm>
    </dsp:sp>
    <dsp:sp modelId="{98D62A8D-55C9-4171-A0E6-423205E667AC}">
      <dsp:nvSpPr>
        <dsp:cNvPr id="0" name=""/>
        <dsp:cNvSpPr/>
      </dsp:nvSpPr>
      <dsp:spPr>
        <a:xfrm>
          <a:off x="0" y="3153911"/>
          <a:ext cx="712893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/>
            <a:t>Common patterns</a:t>
          </a:r>
          <a:endParaRPr lang="en-IN" sz="4000" kern="1200" dirty="0"/>
        </a:p>
      </dsp:txBody>
      <dsp:txXfrm>
        <a:off x="45692" y="3199603"/>
        <a:ext cx="7037549" cy="844616"/>
      </dsp:txXfrm>
    </dsp:sp>
    <dsp:sp modelId="{0664510C-E246-48F3-9E06-EAF6F6040EA9}">
      <dsp:nvSpPr>
        <dsp:cNvPr id="0" name=""/>
        <dsp:cNvSpPr/>
      </dsp:nvSpPr>
      <dsp:spPr>
        <a:xfrm>
          <a:off x="0" y="4089911"/>
          <a:ext cx="7128933" cy="662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3100" kern="1200" dirty="0"/>
        </a:p>
      </dsp:txBody>
      <dsp:txXfrm>
        <a:off x="0" y="4089911"/>
        <a:ext cx="7128933" cy="662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845693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Integrating APIs &amp; External Tools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December 1,2025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7637103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9345" y="1187450"/>
            <a:ext cx="7950200" cy="1436687"/>
          </a:xfrm>
        </p:spPr>
        <p:txBody>
          <a:bodyPr/>
          <a:lstStyle/>
          <a:p>
            <a:r>
              <a:rPr dirty="0"/>
              <a:t>Integrating APIs &amp; External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776153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Why integrate APIs?</a:t>
            </a:r>
          </a:p>
          <a:p>
            <a:r>
              <a:rPr dirty="0"/>
              <a:t>Use cases in AI &amp; Automation</a:t>
            </a:r>
          </a:p>
          <a:p>
            <a:r>
              <a:rPr dirty="0"/>
              <a:t>Patterns for API-driven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0900" y="1017587"/>
            <a:ext cx="7950200" cy="1436687"/>
          </a:xfrm>
        </p:spPr>
        <p:txBody>
          <a:bodyPr/>
          <a:lstStyle/>
          <a:p>
            <a:r>
              <a:t>What is an API?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454055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Application Programming Interface</a:t>
            </a:r>
          </a:p>
          <a:p>
            <a:r>
              <a:rPr dirty="0"/>
              <a:t>Allows systems to communicate</a:t>
            </a:r>
          </a:p>
          <a:p>
            <a:r>
              <a:rPr dirty="0"/>
              <a:t>REST, </a:t>
            </a:r>
            <a:r>
              <a:rPr dirty="0" err="1"/>
              <a:t>GraphQL</a:t>
            </a:r>
            <a:r>
              <a:rPr dirty="0"/>
              <a:t>, </a:t>
            </a:r>
            <a:r>
              <a:rPr dirty="0" err="1"/>
              <a:t>gRPC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958850"/>
            <a:ext cx="7950200" cy="1436687"/>
          </a:xfrm>
        </p:spPr>
        <p:txBody>
          <a:bodyPr/>
          <a:lstStyle/>
          <a:p>
            <a:r>
              <a:rPr dirty="0"/>
              <a:t>REST API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559050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HTTP Methods: GET, POST, PUT, DELETE</a:t>
            </a:r>
          </a:p>
          <a:p>
            <a:r>
              <a:rPr dirty="0"/>
              <a:t>JSON as common format</a:t>
            </a:r>
          </a:p>
          <a:p>
            <a:r>
              <a:rPr dirty="0"/>
              <a:t>Authentication: API Keys, OAuth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806450"/>
            <a:ext cx="7950200" cy="1436687"/>
          </a:xfrm>
        </p:spPr>
        <p:txBody>
          <a:bodyPr/>
          <a:lstStyle/>
          <a:p>
            <a:r>
              <a:rPr dirty="0"/>
              <a:t>Integrating External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08100" y="2330450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CLI Tools (</a:t>
            </a:r>
            <a:r>
              <a:rPr dirty="0" err="1"/>
              <a:t>FFmpeg</a:t>
            </a:r>
            <a:r>
              <a:rPr dirty="0"/>
              <a:t>, Git, </a:t>
            </a:r>
            <a:r>
              <a:rPr dirty="0" err="1"/>
              <a:t>cURL</a:t>
            </a:r>
            <a:r>
              <a:rPr dirty="0"/>
              <a:t>)</a:t>
            </a:r>
          </a:p>
          <a:p>
            <a:r>
              <a:rPr dirty="0"/>
              <a:t>Local services (Docker, Databases)</a:t>
            </a:r>
          </a:p>
          <a:p>
            <a:r>
              <a:rPr dirty="0"/>
              <a:t>Remote third‑party services (OpenAI, Stripe, Weather APIs)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1900" y="882650"/>
            <a:ext cx="7950200" cy="1436687"/>
          </a:xfrm>
        </p:spPr>
        <p:txBody>
          <a:bodyPr/>
          <a:lstStyle/>
          <a:p>
            <a:r>
              <a:rPr dirty="0"/>
              <a:t>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444750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Polling APIs</a:t>
            </a:r>
          </a:p>
          <a:p>
            <a:r>
              <a:rPr dirty="0"/>
              <a:t>Webhooks</a:t>
            </a:r>
          </a:p>
          <a:p>
            <a:r>
              <a:rPr dirty="0"/>
              <a:t>Agentic Tool Use</a:t>
            </a:r>
          </a:p>
          <a:p>
            <a:r>
              <a:rPr dirty="0"/>
              <a:t>Chained API Calls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12900" y="958850"/>
            <a:ext cx="7950200" cy="1436687"/>
          </a:xfrm>
        </p:spPr>
        <p:txBody>
          <a:bodyPr/>
          <a:lstStyle/>
          <a:p>
            <a:r>
              <a:rPr dirty="0"/>
              <a:t>Python Example – Calling REST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08100" y="2635250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Use requests library</a:t>
            </a:r>
          </a:p>
          <a:p>
            <a:r>
              <a:rPr dirty="0"/>
              <a:t>Parse JSON</a:t>
            </a:r>
          </a:p>
          <a:p>
            <a:r>
              <a:rPr dirty="0"/>
              <a:t>Integrate into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1900" y="882650"/>
            <a:ext cx="7950200" cy="1436687"/>
          </a:xfrm>
        </p:spPr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12900" y="2329628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Never expose API keys</a:t>
            </a:r>
          </a:p>
          <a:p>
            <a:r>
              <a:rPr dirty="0"/>
              <a:t>Use environment variables / vaults</a:t>
            </a:r>
          </a:p>
          <a:p>
            <a:r>
              <a:rPr dirty="0"/>
              <a:t>Rate limiting</a:t>
            </a:r>
          </a:p>
          <a:p>
            <a:r>
              <a:rPr dirty="0"/>
              <a:t>Error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730250"/>
            <a:ext cx="7950200" cy="1436687"/>
          </a:xfrm>
        </p:spPr>
        <p:txBody>
          <a:bodyPr/>
          <a:lstStyle/>
          <a:p>
            <a:r>
              <a:rPr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1600" y="2434021"/>
            <a:ext cx="7950200" cy="3795713"/>
          </a:xfrm>
        </p:spPr>
        <p:txBody>
          <a:bodyPr/>
          <a:lstStyle/>
          <a:p>
            <a:endParaRPr dirty="0"/>
          </a:p>
          <a:p>
            <a:r>
              <a:rPr dirty="0"/>
              <a:t>Retries with exponential backoff</a:t>
            </a:r>
          </a:p>
          <a:p>
            <a:r>
              <a:rPr dirty="0"/>
              <a:t>Logging &amp; monitoring</a:t>
            </a:r>
          </a:p>
          <a:p>
            <a:r>
              <a:rPr dirty="0"/>
              <a:t>Caching responses</a:t>
            </a:r>
          </a:p>
          <a:p>
            <a:r>
              <a:rPr dirty="0"/>
              <a:t>Testing with mock APIs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542</TotalTime>
  <Words>181</Words>
  <Application>Microsoft Office PowerPoint</Application>
  <PresentationFormat>Custom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PowerPoint Presentation</vt:lpstr>
      <vt:lpstr>PowerPoint Presentation</vt:lpstr>
      <vt:lpstr>Integrating APIs &amp; External Tools</vt:lpstr>
      <vt:lpstr>What is an API?</vt:lpstr>
      <vt:lpstr>REST API Basics</vt:lpstr>
      <vt:lpstr>Integrating External Tools</vt:lpstr>
      <vt:lpstr>Common Patterns</vt:lpstr>
      <vt:lpstr>Python Example – Calling REST API</vt:lpstr>
      <vt:lpstr>Security Considerations</vt:lpstr>
      <vt:lpstr>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107</cp:revision>
  <dcterms:created xsi:type="dcterms:W3CDTF">2025-10-04T15:17:48Z</dcterms:created>
  <dcterms:modified xsi:type="dcterms:W3CDTF">2025-12-01T14:24:39Z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