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4"/>
  </p:notesMasterIdLst>
  <p:sldIdLst>
    <p:sldId id="28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8" r:id="rId22"/>
    <p:sldId id="269" r:id="rId23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Custom Workflow Introduction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E25D2627-33EE-4038-A688-038342D84C53}">
      <dgm:prSet phldrT="[Text]" phldr="0"/>
      <dgm:spPr/>
      <dgm:t>
        <a:bodyPr/>
        <a:lstStyle/>
        <a:p>
          <a:r>
            <a:rPr lang="en-IN" dirty="0"/>
            <a:t>Need</a:t>
          </a:r>
        </a:p>
      </dgm:t>
    </dgm:pt>
    <dgm:pt modelId="{CA72544C-F4E9-44AB-A759-C3F2DCF39B4D}" type="parTrans" cxnId="{C9974BD5-22BF-4E7C-83C5-3FD637AA5E1B}">
      <dgm:prSet/>
      <dgm:spPr/>
      <dgm:t>
        <a:bodyPr/>
        <a:lstStyle/>
        <a:p>
          <a:endParaRPr lang="en-IN"/>
        </a:p>
      </dgm:t>
    </dgm:pt>
    <dgm:pt modelId="{FCA566F7-E922-4F28-A03D-13CFCF787E4E}" type="sibTrans" cxnId="{C9974BD5-22BF-4E7C-83C5-3FD637AA5E1B}">
      <dgm:prSet/>
      <dgm:spPr/>
      <dgm:t>
        <a:bodyPr/>
        <a:lstStyle/>
        <a:p>
          <a:endParaRPr lang="en-IN"/>
        </a:p>
      </dgm:t>
    </dgm:pt>
    <dgm:pt modelId="{03F63D57-6644-4EEC-BD47-B05F468AA290}">
      <dgm:prSet phldrT="[Text]" phldr="0"/>
      <dgm:spPr/>
      <dgm:t>
        <a:bodyPr/>
        <a:lstStyle/>
        <a:p>
          <a:r>
            <a:rPr lang="en-IN" dirty="0"/>
            <a:t>Core components</a:t>
          </a:r>
        </a:p>
      </dgm:t>
    </dgm:pt>
    <dgm:pt modelId="{51304544-3FC4-438D-9B62-40F5A0D56B3E}" type="parTrans" cxnId="{F1FCCA36-B504-41F3-BF47-1A72FA22D626}">
      <dgm:prSet/>
      <dgm:spPr/>
    </dgm:pt>
    <dgm:pt modelId="{9631E2C6-90B1-42A3-B5FF-7E137BB1836F}" type="sibTrans" cxnId="{F1FCCA36-B504-41F3-BF47-1A72FA22D626}">
      <dgm:prSet/>
      <dgm:spPr/>
    </dgm:pt>
    <dgm:pt modelId="{A701EDD5-0261-4C89-AFDF-C270054B9A4A}">
      <dgm:prSet phldrT="[Text]" phldr="0"/>
      <dgm:spPr/>
      <dgm:t>
        <a:bodyPr/>
        <a:lstStyle/>
        <a:p>
          <a:r>
            <a:rPr lang="en-IN"/>
            <a:t>Agent planning</a:t>
          </a:r>
          <a:endParaRPr lang="en-IN" dirty="0"/>
        </a:p>
      </dgm:t>
    </dgm:pt>
    <dgm:pt modelId="{7DC37486-FF5D-45E9-A7B3-5C3310808703}" type="parTrans" cxnId="{99106FB3-47C9-4ECE-8E99-A262D60878E4}">
      <dgm:prSet/>
      <dgm:spPr/>
    </dgm:pt>
    <dgm:pt modelId="{36751D3B-6191-42BF-AB7A-7094AD1639DE}" type="sibTrans" cxnId="{99106FB3-47C9-4ECE-8E99-A262D60878E4}">
      <dgm:prSet/>
      <dgm:spPr/>
    </dgm:pt>
    <dgm:pt modelId="{4EE24258-C6A3-4870-9330-CD0A2F7C9F7B}">
      <dgm:prSet phldrT="[Text]" phldr="0"/>
      <dgm:spPr/>
      <dgm:t>
        <a:bodyPr/>
        <a:lstStyle/>
        <a:p>
          <a:r>
            <a:rPr lang="en-IN"/>
            <a:t>Types of planning</a:t>
          </a:r>
          <a:endParaRPr lang="en-IN" dirty="0"/>
        </a:p>
      </dgm:t>
    </dgm:pt>
    <dgm:pt modelId="{5F2BA760-9A23-4F1D-8411-CC0EE021B7AE}" type="parTrans" cxnId="{4D70E48D-87BA-47CC-9614-6546E1EA017C}">
      <dgm:prSet/>
      <dgm:spPr/>
    </dgm:pt>
    <dgm:pt modelId="{1F0CB401-54E9-4D43-BC0C-5E42EE202B56}" type="sibTrans" cxnId="{4D70E48D-87BA-47CC-9614-6546E1EA017C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835F766-6797-4F0F-A80E-6374A02C02CA}" type="pres">
      <dgm:prSet presAssocID="{3FA4A193-E0A3-407D-8D9A-10FCCD2B83EF}" presName="spacer" presStyleCnt="0"/>
      <dgm:spPr/>
    </dgm:pt>
    <dgm:pt modelId="{395F55E1-C318-4F46-8AC0-EDCB1A9A8F18}" type="pres">
      <dgm:prSet presAssocID="{E25D2627-33EE-4038-A688-038342D84C5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D162BCD-0996-4487-9F45-951DF83F8FCE}" type="pres">
      <dgm:prSet presAssocID="{FCA566F7-E922-4F28-A03D-13CFCF787E4E}" presName="spacer" presStyleCnt="0"/>
      <dgm:spPr/>
    </dgm:pt>
    <dgm:pt modelId="{F33948F7-0FAF-4748-95F3-B5845D2F91A5}" type="pres">
      <dgm:prSet presAssocID="{03F63D57-6644-4EEC-BD47-B05F468AA29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75D10B7-4355-494E-AE14-F2E8A64A97A7}" type="pres">
      <dgm:prSet presAssocID="{9631E2C6-90B1-42A3-B5FF-7E137BB1836F}" presName="spacer" presStyleCnt="0"/>
      <dgm:spPr/>
    </dgm:pt>
    <dgm:pt modelId="{90489EBA-22F7-4736-9427-864DB710BD42}" type="pres">
      <dgm:prSet presAssocID="{A701EDD5-0261-4C89-AFDF-C270054B9A4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161718-E77D-4590-81AC-1974B99E2AC0}" type="pres">
      <dgm:prSet presAssocID="{36751D3B-6191-42BF-AB7A-7094AD1639DE}" presName="spacer" presStyleCnt="0"/>
      <dgm:spPr/>
    </dgm:pt>
    <dgm:pt modelId="{74EE70F9-C031-4C45-ADEA-91351A910263}" type="pres">
      <dgm:prSet presAssocID="{4EE24258-C6A3-4870-9330-CD0A2F7C9F7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1FCCA36-B504-41F3-BF47-1A72FA22D626}" srcId="{A3ADC42E-D92D-4CE3-B515-AB4674633F03}" destId="{03F63D57-6644-4EEC-BD47-B05F468AA290}" srcOrd="2" destOrd="0" parTransId="{51304544-3FC4-438D-9B62-40F5A0D56B3E}" sibTransId="{9631E2C6-90B1-42A3-B5FF-7E137BB1836F}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CB50085D-B9CF-499E-BEA8-D24230CFBA37}" type="presOf" srcId="{33530723-DC20-49DC-BDF1-C327B49DB98B}" destId="{5001E592-11D5-4BFB-8AFD-90D8F5F51859}" srcOrd="0" destOrd="0" presId="urn:microsoft.com/office/officeart/2005/8/layout/vList2"/>
    <dgm:cxn modelId="{C3A59E8A-5712-4B28-AA3A-23982ED6631E}" type="presOf" srcId="{E25D2627-33EE-4038-A688-038342D84C53}" destId="{395F55E1-C318-4F46-8AC0-EDCB1A9A8F18}" srcOrd="0" destOrd="0" presId="urn:microsoft.com/office/officeart/2005/8/layout/vList2"/>
    <dgm:cxn modelId="{4D70E48D-87BA-47CC-9614-6546E1EA017C}" srcId="{A3ADC42E-D92D-4CE3-B515-AB4674633F03}" destId="{4EE24258-C6A3-4870-9330-CD0A2F7C9F7B}" srcOrd="4" destOrd="0" parTransId="{5F2BA760-9A23-4F1D-8411-CC0EE021B7AE}" sibTransId="{1F0CB401-54E9-4D43-BC0C-5E42EE202B56}"/>
    <dgm:cxn modelId="{641BE296-7625-4084-B697-E3926651D550}" type="presOf" srcId="{A701EDD5-0261-4C89-AFDF-C270054B9A4A}" destId="{90489EBA-22F7-4736-9427-864DB710BD42}" srcOrd="0" destOrd="0" presId="urn:microsoft.com/office/officeart/2005/8/layout/vList2"/>
    <dgm:cxn modelId="{99106FB3-47C9-4ECE-8E99-A262D60878E4}" srcId="{A3ADC42E-D92D-4CE3-B515-AB4674633F03}" destId="{A701EDD5-0261-4C89-AFDF-C270054B9A4A}" srcOrd="3" destOrd="0" parTransId="{7DC37486-FF5D-45E9-A7B3-5C3310808703}" sibTransId="{36751D3B-6191-42BF-AB7A-7094AD1639DE}"/>
    <dgm:cxn modelId="{FE76C2BB-50AE-48B2-84B0-F8DE78218C31}" type="presOf" srcId="{4EE24258-C6A3-4870-9330-CD0A2F7C9F7B}" destId="{74EE70F9-C031-4C45-ADEA-91351A910263}" srcOrd="0" destOrd="0" presId="urn:microsoft.com/office/officeart/2005/8/layout/vList2"/>
    <dgm:cxn modelId="{E337C4C8-60D6-4C55-BDEE-E0DB9F50D1FD}" type="presOf" srcId="{03F63D57-6644-4EEC-BD47-B05F468AA290}" destId="{F33948F7-0FAF-4748-95F3-B5845D2F91A5}" srcOrd="0" destOrd="0" presId="urn:microsoft.com/office/officeart/2005/8/layout/vList2"/>
    <dgm:cxn modelId="{C9974BD5-22BF-4E7C-83C5-3FD637AA5E1B}" srcId="{A3ADC42E-D92D-4CE3-B515-AB4674633F03}" destId="{E25D2627-33EE-4038-A688-038342D84C53}" srcOrd="1" destOrd="0" parTransId="{CA72544C-F4E9-44AB-A759-C3F2DCF39B4D}" sibTransId="{FCA566F7-E922-4F28-A03D-13CFCF787E4E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55E77285-0F8E-4889-BB84-6E35A27A2793}" type="presParOf" srcId="{BD18783E-6D04-4A3E-834F-C1539812ED22}" destId="{5001E592-11D5-4BFB-8AFD-90D8F5F51859}" srcOrd="0" destOrd="0" presId="urn:microsoft.com/office/officeart/2005/8/layout/vList2"/>
    <dgm:cxn modelId="{06441BFB-B554-4CE7-8B20-FE03AB5EA4EA}" type="presParOf" srcId="{BD18783E-6D04-4A3E-834F-C1539812ED22}" destId="{0835F766-6797-4F0F-A80E-6374A02C02CA}" srcOrd="1" destOrd="0" presId="urn:microsoft.com/office/officeart/2005/8/layout/vList2"/>
    <dgm:cxn modelId="{9A11D84B-23A5-419C-927A-7F32B8965BCC}" type="presParOf" srcId="{BD18783E-6D04-4A3E-834F-C1539812ED22}" destId="{395F55E1-C318-4F46-8AC0-EDCB1A9A8F18}" srcOrd="2" destOrd="0" presId="urn:microsoft.com/office/officeart/2005/8/layout/vList2"/>
    <dgm:cxn modelId="{A75FDFC2-2554-4284-B696-1A15ABC9357C}" type="presParOf" srcId="{BD18783E-6D04-4A3E-834F-C1539812ED22}" destId="{3D162BCD-0996-4487-9F45-951DF83F8FCE}" srcOrd="3" destOrd="0" presId="urn:microsoft.com/office/officeart/2005/8/layout/vList2"/>
    <dgm:cxn modelId="{FA13F52F-2ECD-46B6-A380-80B6EDBC56CF}" type="presParOf" srcId="{BD18783E-6D04-4A3E-834F-C1539812ED22}" destId="{F33948F7-0FAF-4748-95F3-B5845D2F91A5}" srcOrd="4" destOrd="0" presId="urn:microsoft.com/office/officeart/2005/8/layout/vList2"/>
    <dgm:cxn modelId="{2CD3558D-1FD5-460F-A21E-71EBAD9A5BE1}" type="presParOf" srcId="{BD18783E-6D04-4A3E-834F-C1539812ED22}" destId="{975D10B7-4355-494E-AE14-F2E8A64A97A7}" srcOrd="5" destOrd="0" presId="urn:microsoft.com/office/officeart/2005/8/layout/vList2"/>
    <dgm:cxn modelId="{BCA1E82A-7E3D-4066-B926-60B616517051}" type="presParOf" srcId="{BD18783E-6D04-4A3E-834F-C1539812ED22}" destId="{90489EBA-22F7-4736-9427-864DB710BD42}" srcOrd="6" destOrd="0" presId="urn:microsoft.com/office/officeart/2005/8/layout/vList2"/>
    <dgm:cxn modelId="{2C87387E-1126-461D-ADE9-032A1D494CF7}" type="presParOf" srcId="{BD18783E-6D04-4A3E-834F-C1539812ED22}" destId="{B8161718-E77D-4590-81AC-1974B99E2AC0}" srcOrd="7" destOrd="0" presId="urn:microsoft.com/office/officeart/2005/8/layout/vList2"/>
    <dgm:cxn modelId="{6D0F3943-7198-4EE7-A8D6-F8592FE9C225}" type="presParOf" srcId="{BD18783E-6D04-4A3E-834F-C1539812ED22}" destId="{74EE70F9-C031-4C45-ADEA-91351A91026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62950"/>
          <a:ext cx="712893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Custom Workflow Introduction</a:t>
          </a:r>
        </a:p>
      </dsp:txBody>
      <dsp:txXfrm>
        <a:off x="41123" y="104073"/>
        <a:ext cx="7046687" cy="760154"/>
      </dsp:txXfrm>
    </dsp:sp>
    <dsp:sp modelId="{395F55E1-C318-4F46-8AC0-EDCB1A9A8F18}">
      <dsp:nvSpPr>
        <dsp:cNvPr id="0" name=""/>
        <dsp:cNvSpPr/>
      </dsp:nvSpPr>
      <dsp:spPr>
        <a:xfrm>
          <a:off x="0" y="1009030"/>
          <a:ext cx="712893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Need</a:t>
          </a:r>
        </a:p>
      </dsp:txBody>
      <dsp:txXfrm>
        <a:off x="41123" y="1050153"/>
        <a:ext cx="7046687" cy="760154"/>
      </dsp:txXfrm>
    </dsp:sp>
    <dsp:sp modelId="{F33948F7-0FAF-4748-95F3-B5845D2F91A5}">
      <dsp:nvSpPr>
        <dsp:cNvPr id="0" name=""/>
        <dsp:cNvSpPr/>
      </dsp:nvSpPr>
      <dsp:spPr>
        <a:xfrm>
          <a:off x="0" y="1955110"/>
          <a:ext cx="712893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Core components</a:t>
          </a:r>
        </a:p>
      </dsp:txBody>
      <dsp:txXfrm>
        <a:off x="41123" y="1996233"/>
        <a:ext cx="7046687" cy="760154"/>
      </dsp:txXfrm>
    </dsp:sp>
    <dsp:sp modelId="{90489EBA-22F7-4736-9427-864DB710BD42}">
      <dsp:nvSpPr>
        <dsp:cNvPr id="0" name=""/>
        <dsp:cNvSpPr/>
      </dsp:nvSpPr>
      <dsp:spPr>
        <a:xfrm>
          <a:off x="0" y="2901190"/>
          <a:ext cx="712893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Agent planning</a:t>
          </a:r>
          <a:endParaRPr lang="en-IN" sz="3600" kern="1200" dirty="0"/>
        </a:p>
      </dsp:txBody>
      <dsp:txXfrm>
        <a:off x="41123" y="2942313"/>
        <a:ext cx="7046687" cy="760154"/>
      </dsp:txXfrm>
    </dsp:sp>
    <dsp:sp modelId="{74EE70F9-C031-4C45-ADEA-91351A910263}">
      <dsp:nvSpPr>
        <dsp:cNvPr id="0" name=""/>
        <dsp:cNvSpPr/>
      </dsp:nvSpPr>
      <dsp:spPr>
        <a:xfrm>
          <a:off x="0" y="3847271"/>
          <a:ext cx="7128933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Types of planning</a:t>
          </a:r>
          <a:endParaRPr lang="en-IN" sz="3600" kern="1200" dirty="0"/>
        </a:p>
      </dsp:txBody>
      <dsp:txXfrm>
        <a:off x="41123" y="3888394"/>
        <a:ext cx="7046687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91968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Custom Agent Workflows &amp; Planning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December 2,2025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725851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806450"/>
            <a:ext cx="7950200" cy="1436687"/>
          </a:xfrm>
        </p:spPr>
        <p:txBody>
          <a:bodyPr>
            <a:normAutofit/>
          </a:bodyPr>
          <a:lstStyle/>
          <a:p>
            <a:r>
              <a:rPr dirty="0"/>
              <a:t> What Are Custom Agent Workflows?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79500" y="2444750"/>
            <a:ext cx="7950200" cy="3795713"/>
          </a:xfrm>
        </p:spPr>
        <p:txBody>
          <a:bodyPr/>
          <a:lstStyle/>
          <a:p>
            <a:r>
              <a:rPr dirty="0"/>
              <a:t>- A workflow is a structured sequence of actions an agent performs</a:t>
            </a:r>
          </a:p>
          <a:p>
            <a:r>
              <a:rPr dirty="0"/>
              <a:t>- Includes perception, reasoning, planning, tool usage, action selection</a:t>
            </a:r>
          </a:p>
          <a:p>
            <a:r>
              <a:rPr dirty="0"/>
              <a:t>- Custom workflows allow rule-based + LLM-based hybrid </a:t>
            </a:r>
            <a:r>
              <a:rPr dirty="0" err="1"/>
              <a:t>behaviour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12900" y="806450"/>
            <a:ext cx="7950200" cy="1436687"/>
          </a:xfrm>
        </p:spPr>
        <p:txBody>
          <a:bodyPr/>
          <a:lstStyle/>
          <a:p>
            <a:r>
              <a:rPr dirty="0"/>
              <a:t>2. Why Custom Workflows?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559050"/>
            <a:ext cx="7950200" cy="3795713"/>
          </a:xfrm>
        </p:spPr>
        <p:txBody>
          <a:bodyPr/>
          <a:lstStyle/>
          <a:p>
            <a:r>
              <a:rPr dirty="0"/>
              <a:t>- Full control over agent </a:t>
            </a:r>
            <a:r>
              <a:rPr dirty="0" err="1"/>
              <a:t>behaviour</a:t>
            </a:r>
            <a:endParaRPr dirty="0"/>
          </a:p>
          <a:p>
            <a:r>
              <a:rPr dirty="0"/>
              <a:t>- Deterministic sections + autonomous decisions</a:t>
            </a:r>
          </a:p>
          <a:p>
            <a:r>
              <a:rPr dirty="0"/>
              <a:t>- Reusable patterns for industry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882650"/>
            <a:ext cx="7950200" cy="1436687"/>
          </a:xfrm>
        </p:spPr>
        <p:txBody>
          <a:bodyPr/>
          <a:lstStyle/>
          <a:p>
            <a:r>
              <a:rPr dirty="0"/>
              <a:t>3. Core Components of a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89100" y="2406650"/>
            <a:ext cx="7950200" cy="3795713"/>
          </a:xfrm>
        </p:spPr>
        <p:txBody>
          <a:bodyPr/>
          <a:lstStyle/>
          <a:p>
            <a:r>
              <a:rPr dirty="0"/>
              <a:t>- Memory (short-term, long-term, vector DB)</a:t>
            </a:r>
          </a:p>
          <a:p>
            <a:r>
              <a:rPr dirty="0"/>
              <a:t>- Tools (RAG, APIs, environment access)</a:t>
            </a:r>
          </a:p>
          <a:p>
            <a:r>
              <a:rPr dirty="0"/>
              <a:t>- Policy (rules + instructions)</a:t>
            </a:r>
          </a:p>
          <a:p>
            <a:r>
              <a:rPr dirty="0"/>
              <a:t>- Planner (LLM-driven decision maker)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27100" y="806450"/>
            <a:ext cx="7950200" cy="1436687"/>
          </a:xfrm>
        </p:spPr>
        <p:txBody>
          <a:bodyPr/>
          <a:lstStyle/>
          <a:p>
            <a:r>
              <a:rPr dirty="0"/>
              <a:t>4. Agent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274449"/>
            <a:ext cx="7950200" cy="3795713"/>
          </a:xfrm>
        </p:spPr>
        <p:txBody>
          <a:bodyPr/>
          <a:lstStyle/>
          <a:p>
            <a:r>
              <a:rPr dirty="0"/>
              <a:t>- Planning = deciding next best action</a:t>
            </a:r>
          </a:p>
          <a:p>
            <a:r>
              <a:rPr dirty="0"/>
              <a:t>- LLM evaluates current state, goal, constraints</a:t>
            </a:r>
          </a:p>
          <a:p>
            <a:r>
              <a:rPr dirty="0"/>
              <a:t>- Output: action plan or tool invocation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6700" y="958850"/>
            <a:ext cx="7950200" cy="1436687"/>
          </a:xfrm>
        </p:spPr>
        <p:txBody>
          <a:bodyPr/>
          <a:lstStyle/>
          <a:p>
            <a:r>
              <a:rPr dirty="0"/>
              <a:t>5. Types of Planners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98179" y="2374297"/>
            <a:ext cx="7950200" cy="3795713"/>
          </a:xfrm>
        </p:spPr>
        <p:txBody>
          <a:bodyPr/>
          <a:lstStyle/>
          <a:p>
            <a:r>
              <a:rPr dirty="0"/>
              <a:t>- Reactive Planner: Immediate response</a:t>
            </a:r>
          </a:p>
          <a:p>
            <a:r>
              <a:rPr dirty="0"/>
              <a:t>- Deliberate Planner: Multi-step reasoning</a:t>
            </a:r>
          </a:p>
          <a:p>
            <a:r>
              <a:rPr dirty="0"/>
              <a:t>- Hierarchical Planner: High-level + low-level breakdown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60500" y="654050"/>
            <a:ext cx="7950200" cy="1436687"/>
          </a:xfrm>
        </p:spPr>
        <p:txBody>
          <a:bodyPr/>
          <a:lstStyle/>
          <a:p>
            <a:r>
              <a:rPr dirty="0"/>
              <a:t>6. Python Example: Simple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254250"/>
            <a:ext cx="7950200" cy="379571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from </a:t>
            </a:r>
            <a:r>
              <a:rPr dirty="0" err="1"/>
              <a:t>ollama</a:t>
            </a:r>
            <a:r>
              <a:rPr dirty="0"/>
              <a:t> import chat</a:t>
            </a:r>
          </a:p>
          <a:p>
            <a:endParaRPr dirty="0"/>
          </a:p>
          <a:p>
            <a:r>
              <a:rPr dirty="0"/>
              <a:t>def planner(goal, context):</a:t>
            </a:r>
          </a:p>
          <a:p>
            <a:r>
              <a:rPr dirty="0"/>
              <a:t>    prompt = </a:t>
            </a:r>
            <a:r>
              <a:rPr dirty="0" err="1"/>
              <a:t>f'Plan</a:t>
            </a:r>
            <a:r>
              <a:rPr dirty="0"/>
              <a:t> steps to achieve: {goal}. Context: {context}'</a:t>
            </a:r>
          </a:p>
          <a:p>
            <a:r>
              <a:rPr dirty="0"/>
              <a:t>    r = chat(model='llama3', messages=[{'</a:t>
            </a:r>
            <a:r>
              <a:rPr dirty="0" err="1"/>
              <a:t>role':'user</a:t>
            </a:r>
            <a:r>
              <a:rPr dirty="0"/>
              <a:t>', '</a:t>
            </a:r>
            <a:r>
              <a:rPr dirty="0" err="1"/>
              <a:t>content':prompt</a:t>
            </a:r>
            <a:r>
              <a:rPr dirty="0"/>
              <a:t>}])</a:t>
            </a:r>
          </a:p>
          <a:p>
            <a:r>
              <a:rPr dirty="0"/>
              <a:t>    return r['message']['content']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9500" y="730250"/>
            <a:ext cx="7950200" cy="1436687"/>
          </a:xfrm>
        </p:spPr>
        <p:txBody>
          <a:bodyPr/>
          <a:lstStyle/>
          <a:p>
            <a:r>
              <a:rPr dirty="0"/>
              <a:t>7. Workflow Execution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743200"/>
            <a:ext cx="7950200" cy="3795713"/>
          </a:xfrm>
        </p:spPr>
        <p:txBody>
          <a:bodyPr/>
          <a:lstStyle/>
          <a:p>
            <a:r>
              <a:t>1) Gather context</a:t>
            </a:r>
          </a:p>
          <a:p>
            <a:r>
              <a:t>2) Generate plan</a:t>
            </a:r>
          </a:p>
          <a:p>
            <a:r>
              <a:t>3) Execute steps</a:t>
            </a:r>
          </a:p>
          <a:p>
            <a:r>
              <a:t>4) Evaluate results</a:t>
            </a:r>
          </a:p>
          <a:p>
            <a:r>
              <a:t>5) Iterate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60500" y="806450"/>
            <a:ext cx="7950200" cy="1436687"/>
          </a:xfrm>
        </p:spPr>
        <p:txBody>
          <a:bodyPr/>
          <a:lstStyle/>
          <a:p>
            <a:r>
              <a:rPr dirty="0"/>
              <a:t>8. Example: Multi-step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60500" y="2243137"/>
            <a:ext cx="7950200" cy="3795713"/>
          </a:xfrm>
        </p:spPr>
        <p:txBody>
          <a:bodyPr/>
          <a:lstStyle/>
          <a:p>
            <a:r>
              <a:rPr dirty="0"/>
              <a:t>plan = planner('Summarize research', 'PDF text loaded')</a:t>
            </a:r>
          </a:p>
          <a:p>
            <a:r>
              <a:rPr dirty="0"/>
              <a:t>for step in </a:t>
            </a:r>
            <a:r>
              <a:rPr dirty="0" err="1"/>
              <a:t>plan.split</a:t>
            </a:r>
            <a:r>
              <a:rPr dirty="0"/>
              <a:t>('\n'):</a:t>
            </a:r>
          </a:p>
          <a:p>
            <a:r>
              <a:rPr dirty="0"/>
              <a:t>    </a:t>
            </a:r>
            <a:r>
              <a:rPr dirty="0" err="1"/>
              <a:t>run_step</a:t>
            </a:r>
            <a:r>
              <a:rPr dirty="0"/>
              <a:t>(step)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1900" y="730250"/>
            <a:ext cx="7950200" cy="1436687"/>
          </a:xfrm>
        </p:spPr>
        <p:txBody>
          <a:bodyPr/>
          <a:lstStyle/>
          <a:p>
            <a:r>
              <a:t>9. ReAct Planning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406650"/>
            <a:ext cx="7950200" cy="3795713"/>
          </a:xfrm>
        </p:spPr>
        <p:txBody>
          <a:bodyPr/>
          <a:lstStyle/>
          <a:p>
            <a:r>
              <a:t>Thought → Action → Observation → Thought</a:t>
            </a:r>
          </a:p>
          <a:p>
            <a:r>
              <a:t>Great for dynamic tasks and tool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6700" y="1017587"/>
            <a:ext cx="7950200" cy="1436687"/>
          </a:xfrm>
        </p:spPr>
        <p:txBody>
          <a:bodyPr/>
          <a:lstStyle/>
          <a:p>
            <a:r>
              <a:rPr dirty="0"/>
              <a:t>10. Custom Workflow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743200" y="2743200"/>
            <a:ext cx="7950200" cy="3795713"/>
          </a:xfrm>
        </p:spPr>
        <p:txBody>
          <a:bodyPr/>
          <a:lstStyle/>
          <a:p>
            <a:r>
              <a:t>- Define input/output schema</a:t>
            </a:r>
          </a:p>
          <a:p>
            <a:r>
              <a:t>- Add tool registry</a:t>
            </a:r>
          </a:p>
          <a:p>
            <a:r>
              <a:t>- Add planner function</a:t>
            </a:r>
          </a:p>
          <a:p>
            <a:r>
              <a:t>- Implement cycle loop</a:t>
            </a:r>
          </a:p>
          <a:p>
            <a:r>
              <a:t>- Add safety and limits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882650"/>
            <a:ext cx="7950200" cy="1436687"/>
          </a:xfrm>
        </p:spPr>
        <p:txBody>
          <a:bodyPr/>
          <a:lstStyle/>
          <a:p>
            <a:r>
              <a:rPr dirty="0"/>
              <a:t>11. Visual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36700" y="2559050"/>
            <a:ext cx="7950200" cy="3795713"/>
          </a:xfrm>
        </p:spPr>
        <p:txBody>
          <a:bodyPr/>
          <a:lstStyle/>
          <a:p>
            <a:r>
              <a:rPr dirty="0"/>
              <a:t>User → Agent → Planner → Tools → Memory →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F60C-9D97-B735-4BA9-9A84064BC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97438" y="806450"/>
            <a:ext cx="7950200" cy="1436687"/>
          </a:xfrm>
        </p:spPr>
        <p:txBody>
          <a:bodyPr>
            <a:normAutofit/>
          </a:bodyPr>
          <a:lstStyle/>
          <a:p>
            <a:r>
              <a:rPr lang="en-US" dirty="0"/>
              <a:t>PART 1 — Connect to </a:t>
            </a:r>
            <a:r>
              <a:rPr lang="en-US" dirty="0" err="1"/>
              <a:t>Ollama</a:t>
            </a:r>
            <a:r>
              <a:rPr lang="en-US" dirty="0"/>
              <a:t> (LLM Backend)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7F63-09A7-E8FB-4DD8-F31DFE92C0A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71600" y="2635250"/>
            <a:ext cx="7950200" cy="3795713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Agents need a language model — here we connect to </a:t>
            </a:r>
            <a:r>
              <a:rPr lang="en-IN" b="1" dirty="0" err="1"/>
              <a:t>Ollama</a:t>
            </a:r>
            <a:r>
              <a:rPr lang="en-IN" dirty="0"/>
              <a:t> locally.</a:t>
            </a:r>
          </a:p>
          <a:p>
            <a:r>
              <a:rPr lang="en-IN" b="1" dirty="0"/>
              <a:t>Code:</a:t>
            </a:r>
          </a:p>
          <a:p>
            <a:r>
              <a:rPr lang="en-IN" dirty="0"/>
              <a:t>import </a:t>
            </a:r>
            <a:r>
              <a:rPr lang="en-IN" dirty="0" err="1"/>
              <a:t>ollama</a:t>
            </a:r>
            <a:endParaRPr lang="en-IN" dirty="0"/>
          </a:p>
          <a:p>
            <a:endParaRPr lang="en-IN" dirty="0"/>
          </a:p>
          <a:p>
            <a:r>
              <a:rPr lang="en-IN" dirty="0"/>
              <a:t>MODEL = "llama"     # Any model pulled with `</a:t>
            </a:r>
            <a:r>
              <a:rPr lang="en-IN" dirty="0" err="1"/>
              <a:t>ollama</a:t>
            </a:r>
            <a:r>
              <a:rPr lang="en-IN" dirty="0"/>
              <a:t> pull llama3.2`</a:t>
            </a:r>
          </a:p>
          <a:p>
            <a:r>
              <a:rPr lang="en-IN" dirty="0"/>
              <a:t>client = </a:t>
            </a:r>
            <a:r>
              <a:rPr lang="en-IN" dirty="0" err="1"/>
              <a:t>ollama.Client</a:t>
            </a:r>
            <a:r>
              <a:rPr lang="en-IN" dirty="0"/>
              <a:t>()  # Connects to localhost:11434</a:t>
            </a:r>
          </a:p>
          <a:p>
            <a:r>
              <a:rPr lang="en-IN" dirty="0" err="1"/>
              <a:t>Ollama</a:t>
            </a:r>
            <a:r>
              <a:rPr lang="en-IN" dirty="0"/>
              <a:t> = your local LLM engine</a:t>
            </a:r>
          </a:p>
          <a:p>
            <a:r>
              <a:rPr lang="en-IN" dirty="0"/>
              <a:t>Model must be downloaded</a:t>
            </a:r>
          </a:p>
          <a:p>
            <a:r>
              <a:rPr lang="en-IN" dirty="0"/>
              <a:t>Acts like your agent’s “brain”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8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BA7C-37FE-0705-EC93-461E203ECD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1600" y="806450"/>
            <a:ext cx="7950200" cy="1436687"/>
          </a:xfrm>
        </p:spPr>
        <p:txBody>
          <a:bodyPr>
            <a:normAutofit/>
          </a:bodyPr>
          <a:lstStyle/>
          <a:p>
            <a:r>
              <a:rPr lang="en-US" dirty="0"/>
              <a:t>PART 2 — Helper Function to Talk to the LLM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4B78A-DDE0-A4BB-8886-89D7565AAC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71600" y="2263939"/>
            <a:ext cx="7950200" cy="379571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A reusable function to send prompts and get model responses.</a:t>
            </a:r>
          </a:p>
          <a:p>
            <a:r>
              <a:rPr lang="en-IN" b="1" dirty="0"/>
              <a:t>Code:</a:t>
            </a:r>
          </a:p>
          <a:p>
            <a:r>
              <a:rPr lang="en-IN" dirty="0"/>
              <a:t>def </a:t>
            </a:r>
            <a:r>
              <a:rPr lang="en-IN" dirty="0" err="1"/>
              <a:t>llm</a:t>
            </a:r>
            <a:r>
              <a:rPr lang="en-IN" dirty="0"/>
              <a:t>(messages):</a:t>
            </a:r>
          </a:p>
          <a:p>
            <a:r>
              <a:rPr lang="en-IN" dirty="0"/>
              <a:t>    response = </a:t>
            </a:r>
            <a:r>
              <a:rPr lang="en-IN" dirty="0" err="1"/>
              <a:t>client.chat</a:t>
            </a:r>
            <a:r>
              <a:rPr lang="en-IN" dirty="0"/>
              <a:t>(</a:t>
            </a:r>
          </a:p>
          <a:p>
            <a:r>
              <a:rPr lang="en-IN" dirty="0"/>
              <a:t>        model=MODEL,</a:t>
            </a:r>
          </a:p>
          <a:p>
            <a:r>
              <a:rPr lang="en-IN" dirty="0"/>
              <a:t>        messages=messages</a:t>
            </a:r>
          </a:p>
          <a:p>
            <a:r>
              <a:rPr lang="en-IN" dirty="0"/>
              <a:t>    )</a:t>
            </a:r>
          </a:p>
          <a:p>
            <a:r>
              <a:rPr lang="en-IN" dirty="0"/>
              <a:t>    return response["message"]["content"].strip()</a:t>
            </a:r>
          </a:p>
          <a:p>
            <a:r>
              <a:rPr lang="en-IN" b="1" dirty="0"/>
              <a:t>Explain:</a:t>
            </a:r>
          </a:p>
          <a:p>
            <a:r>
              <a:rPr lang="en-IN" dirty="0"/>
              <a:t>Agents talk to LLM through chat messages</a:t>
            </a:r>
          </a:p>
          <a:p>
            <a:r>
              <a:rPr lang="en-IN" dirty="0"/>
              <a:t>LLM always returns "message" → "content"</a:t>
            </a:r>
          </a:p>
          <a:p>
            <a:r>
              <a:rPr lang="en-IN" dirty="0"/>
              <a:t>This makes future functions shorter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75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B4C4-ABDE-8B1A-6737-CF1AEE571D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5700" y="806450"/>
            <a:ext cx="7950200" cy="1436687"/>
          </a:xfrm>
        </p:spPr>
        <p:txBody>
          <a:bodyPr>
            <a:normAutofit/>
          </a:bodyPr>
          <a:lstStyle/>
          <a:p>
            <a:r>
              <a:rPr lang="en-US" dirty="0"/>
              <a:t>PART 3 — LLM-Based Planner (Goal → Steps)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86EF-BA21-C89C-9F62-A79FF01FF7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36700" y="2330450"/>
            <a:ext cx="7950200" cy="3795713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Agents don’t jump straight to execution — they </a:t>
            </a:r>
            <a:r>
              <a:rPr lang="en-IN" b="1" dirty="0"/>
              <a:t>plan first</a:t>
            </a:r>
            <a:r>
              <a:rPr lang="en-IN" dirty="0"/>
              <a:t>.</a:t>
            </a:r>
          </a:p>
          <a:p>
            <a:r>
              <a:rPr lang="en-IN" b="1" dirty="0"/>
              <a:t>Code:</a:t>
            </a:r>
          </a:p>
          <a:p>
            <a:r>
              <a:rPr lang="en-IN" dirty="0"/>
              <a:t>def </a:t>
            </a:r>
            <a:r>
              <a:rPr lang="en-IN" dirty="0" err="1"/>
              <a:t>plan_steps</a:t>
            </a:r>
            <a:r>
              <a:rPr lang="en-IN" dirty="0"/>
              <a:t>(goal: str, context: str = ""):</a:t>
            </a:r>
          </a:p>
          <a:p>
            <a:r>
              <a:rPr lang="en-IN" dirty="0"/>
              <a:t>    plan = </a:t>
            </a:r>
            <a:r>
              <a:rPr lang="en-IN" dirty="0" err="1"/>
              <a:t>llm</a:t>
            </a:r>
            <a:r>
              <a:rPr lang="en-IN" dirty="0"/>
              <a:t>([</a:t>
            </a:r>
          </a:p>
          <a:p>
            <a:r>
              <a:rPr lang="en-IN" dirty="0"/>
              <a:t>        {"role": "system", "content": "Return 3–6 short, numbered steps."},</a:t>
            </a:r>
          </a:p>
          <a:p>
            <a:r>
              <a:rPr lang="en-IN" dirty="0"/>
              <a:t>        {"role": "user", "content": </a:t>
            </a:r>
            <a:r>
              <a:rPr lang="en-IN" dirty="0" err="1"/>
              <a:t>f"Goal</a:t>
            </a:r>
            <a:r>
              <a:rPr lang="en-IN" dirty="0"/>
              <a:t>: {goal}\</a:t>
            </a:r>
            <a:r>
              <a:rPr lang="en-IN" dirty="0" err="1"/>
              <a:t>nContext</a:t>
            </a:r>
            <a:r>
              <a:rPr lang="en-IN" dirty="0"/>
              <a:t>: {context}"}</a:t>
            </a:r>
          </a:p>
          <a:p>
            <a:r>
              <a:rPr lang="en-IN" dirty="0"/>
              <a:t>    ])</a:t>
            </a:r>
          </a:p>
          <a:p>
            <a:endParaRPr lang="en-IN" dirty="0"/>
          </a:p>
          <a:p>
            <a:r>
              <a:rPr lang="en-IN" dirty="0"/>
              <a:t>    # cleanup</a:t>
            </a:r>
          </a:p>
          <a:p>
            <a:r>
              <a:rPr lang="en-IN" dirty="0"/>
              <a:t>    steps = []</a:t>
            </a:r>
          </a:p>
          <a:p>
            <a:r>
              <a:rPr lang="en-IN" dirty="0"/>
              <a:t>    for line in </a:t>
            </a:r>
            <a:r>
              <a:rPr lang="en-IN" dirty="0" err="1"/>
              <a:t>plan.split</a:t>
            </a:r>
            <a:r>
              <a:rPr lang="en-IN" dirty="0"/>
              <a:t>("\n"):</a:t>
            </a:r>
          </a:p>
          <a:p>
            <a:r>
              <a:rPr lang="en-IN" dirty="0"/>
              <a:t>        line = </a:t>
            </a:r>
            <a:r>
              <a:rPr lang="en-IN" dirty="0" err="1"/>
              <a:t>line.strip</a:t>
            </a:r>
            <a:r>
              <a:rPr lang="en-IN" dirty="0"/>
              <a:t>().</a:t>
            </a:r>
            <a:r>
              <a:rPr lang="en-IN" dirty="0" err="1"/>
              <a:t>lstrip</a:t>
            </a:r>
            <a:r>
              <a:rPr lang="en-IN" dirty="0"/>
              <a:t>("1234567890.) ")</a:t>
            </a:r>
          </a:p>
          <a:p>
            <a:r>
              <a:rPr lang="en-IN" dirty="0"/>
              <a:t>        if line:</a:t>
            </a:r>
          </a:p>
          <a:p>
            <a:r>
              <a:rPr lang="en-IN" dirty="0"/>
              <a:t>            </a:t>
            </a:r>
            <a:r>
              <a:rPr lang="en-IN" dirty="0" err="1"/>
              <a:t>steps.append</a:t>
            </a:r>
            <a:r>
              <a:rPr lang="en-IN" dirty="0"/>
              <a:t>(line)</a:t>
            </a:r>
          </a:p>
          <a:p>
            <a:r>
              <a:rPr lang="en-IN" dirty="0"/>
              <a:t>    return steps</a:t>
            </a:r>
          </a:p>
          <a:p>
            <a:r>
              <a:rPr lang="en-IN" b="1" dirty="0"/>
              <a:t>Explain:</a:t>
            </a:r>
          </a:p>
          <a:p>
            <a:r>
              <a:rPr lang="en-IN" dirty="0"/>
              <a:t>Planner = agent’s “executive brain”</a:t>
            </a:r>
          </a:p>
          <a:p>
            <a:r>
              <a:rPr lang="en-IN" dirty="0"/>
              <a:t>Converts big goal → structured steps</a:t>
            </a:r>
          </a:p>
          <a:p>
            <a:r>
              <a:rPr lang="en-IN" dirty="0"/>
              <a:t>Steps are easy to automate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10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F9BC-D437-D2C3-0649-7F457A9469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5700" y="577850"/>
            <a:ext cx="7950200" cy="1436687"/>
          </a:xfrm>
        </p:spPr>
        <p:txBody>
          <a:bodyPr/>
          <a:lstStyle/>
          <a:p>
            <a:r>
              <a:rPr lang="en-US" dirty="0"/>
              <a:t>PART 4 — Build a Tool Registry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C56F-1C2F-61CB-0A48-63FCFAA7799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31900" y="1980159"/>
            <a:ext cx="7950200" cy="3795713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Agents use </a:t>
            </a:r>
            <a:r>
              <a:rPr lang="en-IN" b="1" dirty="0"/>
              <a:t>tools</a:t>
            </a:r>
            <a:r>
              <a:rPr lang="en-IN" dirty="0"/>
              <a:t> (functions) to perform external actions.</a:t>
            </a:r>
          </a:p>
          <a:p>
            <a:r>
              <a:rPr lang="en-IN" b="1" dirty="0"/>
              <a:t>Code:</a:t>
            </a:r>
          </a:p>
          <a:p>
            <a:r>
              <a:rPr lang="en-IN" dirty="0"/>
              <a:t>class </a:t>
            </a:r>
            <a:r>
              <a:rPr lang="en-IN" dirty="0" err="1"/>
              <a:t>ToolRegistry</a:t>
            </a:r>
            <a:r>
              <a:rPr lang="en-IN" dirty="0"/>
              <a:t>:</a:t>
            </a:r>
          </a:p>
          <a:p>
            <a:r>
              <a:rPr lang="en-IN" dirty="0"/>
              <a:t>    def __</a:t>
            </a:r>
            <a:r>
              <a:rPr lang="en-IN" dirty="0" err="1"/>
              <a:t>init</a:t>
            </a:r>
            <a:r>
              <a:rPr lang="en-IN" dirty="0"/>
              <a:t>__(self):</a:t>
            </a:r>
          </a:p>
          <a:p>
            <a:r>
              <a:rPr lang="en-IN" dirty="0"/>
              <a:t>        </a:t>
            </a:r>
            <a:r>
              <a:rPr lang="en-IN" dirty="0" err="1"/>
              <a:t>self.tools</a:t>
            </a:r>
            <a:r>
              <a:rPr lang="en-IN" dirty="0"/>
              <a:t> = {}</a:t>
            </a:r>
          </a:p>
          <a:p>
            <a:endParaRPr lang="en-IN" dirty="0"/>
          </a:p>
          <a:p>
            <a:r>
              <a:rPr lang="en-IN" dirty="0"/>
              <a:t>    def register(self, name, </a:t>
            </a:r>
            <a:r>
              <a:rPr lang="en-IN" dirty="0" err="1"/>
              <a:t>fn</a:t>
            </a:r>
            <a:r>
              <a:rPr lang="en-IN" dirty="0"/>
              <a:t>):</a:t>
            </a:r>
          </a:p>
          <a:p>
            <a:r>
              <a:rPr lang="en-IN" dirty="0"/>
              <a:t>        </a:t>
            </a:r>
            <a:r>
              <a:rPr lang="en-IN" dirty="0" err="1"/>
              <a:t>self.tools</a:t>
            </a:r>
            <a:r>
              <a:rPr lang="en-IN" dirty="0"/>
              <a:t>[name] = </a:t>
            </a:r>
            <a:r>
              <a:rPr lang="en-IN" dirty="0" err="1"/>
              <a:t>fn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def call(self, name, </a:t>
            </a:r>
            <a:r>
              <a:rPr lang="en-IN" dirty="0" err="1"/>
              <a:t>arg</a:t>
            </a:r>
            <a:r>
              <a:rPr lang="en-IN" dirty="0"/>
              <a:t>):</a:t>
            </a:r>
          </a:p>
          <a:p>
            <a:r>
              <a:rPr lang="en-IN" dirty="0"/>
              <a:t>        if name not in </a:t>
            </a:r>
            <a:r>
              <a:rPr lang="en-IN" dirty="0" err="1"/>
              <a:t>self.tools</a:t>
            </a:r>
            <a:r>
              <a:rPr lang="en-IN" dirty="0"/>
              <a:t>:</a:t>
            </a:r>
          </a:p>
          <a:p>
            <a:r>
              <a:rPr lang="en-IN" dirty="0"/>
              <a:t>            return {"ok": False, "error": </a:t>
            </a:r>
            <a:r>
              <a:rPr lang="en-IN" dirty="0" err="1"/>
              <a:t>f"No</a:t>
            </a:r>
            <a:r>
              <a:rPr lang="en-IN" dirty="0"/>
              <a:t> tool: {name}"}</a:t>
            </a:r>
          </a:p>
          <a:p>
            <a:r>
              <a:rPr lang="en-IN" dirty="0"/>
              <a:t>        return {"ok": True, "result": </a:t>
            </a:r>
            <a:r>
              <a:rPr lang="en-IN" dirty="0" err="1"/>
              <a:t>self.tools</a:t>
            </a:r>
            <a:r>
              <a:rPr lang="en-IN" dirty="0"/>
              <a:t>[name](</a:t>
            </a:r>
            <a:r>
              <a:rPr lang="en-IN" dirty="0" err="1"/>
              <a:t>arg</a:t>
            </a:r>
            <a:r>
              <a:rPr lang="en-IN" dirty="0"/>
              <a:t>)}</a:t>
            </a:r>
          </a:p>
          <a:p>
            <a:endParaRPr lang="en-IN" dirty="0"/>
          </a:p>
          <a:p>
            <a:r>
              <a:rPr lang="en-IN" dirty="0"/>
              <a:t>tools = </a:t>
            </a:r>
            <a:r>
              <a:rPr lang="en-IN" dirty="0" err="1"/>
              <a:t>ToolRegistry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Tools = agent’s abilities</a:t>
            </a:r>
          </a:p>
          <a:p>
            <a:r>
              <a:rPr lang="en-IN" dirty="0"/>
              <a:t>They are just Python functions</a:t>
            </a:r>
          </a:p>
          <a:p>
            <a:r>
              <a:rPr lang="en-IN" dirty="0"/>
              <a:t>Easy to extend with new capabilities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870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BDB2-A18B-F779-9BF2-B030C2A3F7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08100" y="730250"/>
            <a:ext cx="7950200" cy="1436687"/>
          </a:xfrm>
        </p:spPr>
        <p:txBody>
          <a:bodyPr/>
          <a:lstStyle/>
          <a:p>
            <a:r>
              <a:rPr lang="en-US" dirty="0"/>
              <a:t>PART 5 — Add Some Real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5067C-E777-C003-445C-452F7401D2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84014" y="1880393"/>
            <a:ext cx="7950200" cy="3795713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Tools allow the agent to work with external systems.</a:t>
            </a:r>
          </a:p>
          <a:p>
            <a:r>
              <a:rPr lang="en-IN" b="1" dirty="0"/>
              <a:t>Tool 1: Summarizer</a:t>
            </a:r>
          </a:p>
          <a:p>
            <a:r>
              <a:rPr lang="en-IN" dirty="0"/>
              <a:t>def </a:t>
            </a:r>
            <a:r>
              <a:rPr lang="en-IN" dirty="0" err="1"/>
              <a:t>tool_summarize</a:t>
            </a:r>
            <a:r>
              <a:rPr lang="en-IN" dirty="0"/>
              <a:t>(text):</a:t>
            </a:r>
          </a:p>
          <a:p>
            <a:r>
              <a:rPr lang="en-IN" dirty="0"/>
              <a:t>    return </a:t>
            </a:r>
            <a:r>
              <a:rPr lang="en-IN" dirty="0" err="1"/>
              <a:t>llm</a:t>
            </a:r>
            <a:r>
              <a:rPr lang="en-IN" dirty="0"/>
              <a:t>([</a:t>
            </a:r>
          </a:p>
          <a:p>
            <a:r>
              <a:rPr lang="en-IN" dirty="0"/>
              <a:t>        {"role": "system", "content": "Give a short 3-line summary."},</a:t>
            </a:r>
          </a:p>
          <a:p>
            <a:r>
              <a:rPr lang="en-IN" dirty="0"/>
              <a:t>        {"role": "user", "content": text}</a:t>
            </a:r>
          </a:p>
          <a:p>
            <a:r>
              <a:rPr lang="en-IN" dirty="0"/>
              <a:t>    ])</a:t>
            </a:r>
          </a:p>
          <a:p>
            <a:r>
              <a:rPr lang="en-IN" b="1" dirty="0"/>
              <a:t>Tool 2: Keyword Extractor</a:t>
            </a:r>
          </a:p>
          <a:p>
            <a:r>
              <a:rPr lang="en-IN" dirty="0"/>
              <a:t>def </a:t>
            </a:r>
            <a:r>
              <a:rPr lang="en-IN" dirty="0" err="1"/>
              <a:t>tool_keywords</a:t>
            </a:r>
            <a:r>
              <a:rPr lang="en-IN" dirty="0"/>
              <a:t>(text):</a:t>
            </a:r>
          </a:p>
          <a:p>
            <a:r>
              <a:rPr lang="en-IN" dirty="0"/>
              <a:t>    return </a:t>
            </a:r>
            <a:r>
              <a:rPr lang="en-IN" dirty="0" err="1"/>
              <a:t>llm</a:t>
            </a:r>
            <a:r>
              <a:rPr lang="en-IN" dirty="0"/>
              <a:t>([</a:t>
            </a:r>
          </a:p>
          <a:p>
            <a:r>
              <a:rPr lang="en-IN" dirty="0"/>
              <a:t>        {"role": "system", "content": "Extract 5 keywords, comma separated."},</a:t>
            </a:r>
          </a:p>
          <a:p>
            <a:r>
              <a:rPr lang="en-IN" dirty="0"/>
              <a:t>        {"role": "user", "content": text}</a:t>
            </a:r>
          </a:p>
          <a:p>
            <a:r>
              <a:rPr lang="en-IN" dirty="0"/>
              <a:t>    ])</a:t>
            </a:r>
          </a:p>
          <a:p>
            <a:r>
              <a:rPr lang="en-IN" b="1" dirty="0"/>
              <a:t>Register tools</a:t>
            </a:r>
          </a:p>
          <a:p>
            <a:r>
              <a:rPr lang="en-IN" dirty="0" err="1"/>
              <a:t>tools.register</a:t>
            </a:r>
            <a:r>
              <a:rPr lang="en-IN" dirty="0"/>
              <a:t>("summarize", </a:t>
            </a:r>
            <a:r>
              <a:rPr lang="en-IN" dirty="0" err="1"/>
              <a:t>tool_summarize</a:t>
            </a:r>
            <a:r>
              <a:rPr lang="en-IN" dirty="0"/>
              <a:t>)</a:t>
            </a:r>
          </a:p>
          <a:p>
            <a:r>
              <a:rPr lang="en-IN" dirty="0" err="1"/>
              <a:t>tools.register</a:t>
            </a:r>
            <a:r>
              <a:rPr lang="en-IN" dirty="0"/>
              <a:t>("keywords", </a:t>
            </a:r>
            <a:r>
              <a:rPr lang="en-IN" dirty="0" err="1"/>
              <a:t>tool_keywords</a:t>
            </a:r>
            <a:r>
              <a:rPr lang="en-IN" dirty="0"/>
              <a:t>)</a:t>
            </a:r>
          </a:p>
          <a:p>
            <a:r>
              <a:rPr lang="en-IN" b="1" dirty="0"/>
              <a:t>Explain:</a:t>
            </a:r>
          </a:p>
          <a:p>
            <a:r>
              <a:rPr lang="en-IN" dirty="0"/>
              <a:t>Tools = agent skills</a:t>
            </a:r>
          </a:p>
          <a:p>
            <a:r>
              <a:rPr lang="en-IN" dirty="0"/>
              <a:t>LLM can help tools or tools can run code</a:t>
            </a:r>
          </a:p>
          <a:p>
            <a:r>
              <a:rPr lang="en-IN" dirty="0"/>
              <a:t>This is how agents interact with the world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395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9B68-F3F0-C7F0-227D-312887DAD3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3300" y="730250"/>
            <a:ext cx="7950200" cy="1436687"/>
          </a:xfrm>
        </p:spPr>
        <p:txBody>
          <a:bodyPr>
            <a:normAutofit/>
          </a:bodyPr>
          <a:lstStyle/>
          <a:p>
            <a:r>
              <a:rPr lang="en-US" dirty="0"/>
              <a:t>PART 6 — Workflow Execution Engine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C5AAC-359B-C12E-3D8A-81FB73CCDB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31900" y="2254250"/>
            <a:ext cx="7950200" cy="3795713"/>
          </a:xfrm>
        </p:spPr>
        <p:txBody>
          <a:bodyPr>
            <a:normAutofit fontScale="25000" lnSpcReduction="20000"/>
          </a:bodyPr>
          <a:lstStyle/>
          <a:p>
            <a:r>
              <a:rPr lang="en-US" b="1" dirty="0"/>
              <a:t>Concept:</a:t>
            </a:r>
          </a:p>
          <a:p>
            <a:r>
              <a:rPr lang="en-US" dirty="0"/>
              <a:t>One function that can run </a:t>
            </a:r>
            <a:r>
              <a:rPr lang="en-US" b="1" dirty="0"/>
              <a:t>any</a:t>
            </a:r>
            <a:r>
              <a:rPr lang="en-US" dirty="0"/>
              <a:t> instruction.</a:t>
            </a:r>
          </a:p>
          <a:p>
            <a:r>
              <a:rPr lang="en-US" b="1" dirty="0"/>
              <a:t>Code:</a:t>
            </a:r>
          </a:p>
          <a:p>
            <a:r>
              <a:rPr lang="en-US" dirty="0"/>
              <a:t>def </a:t>
            </a:r>
            <a:r>
              <a:rPr lang="en-US" dirty="0" err="1"/>
              <a:t>execute_step</a:t>
            </a:r>
            <a:r>
              <a:rPr lang="en-US" dirty="0"/>
              <a:t>(step: str):</a:t>
            </a:r>
          </a:p>
          <a:p>
            <a:r>
              <a:rPr lang="en-US" dirty="0"/>
              <a:t>    step = </a:t>
            </a:r>
            <a:r>
              <a:rPr lang="en-US" dirty="0" err="1"/>
              <a:t>step.strip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# Tool call format</a:t>
            </a:r>
          </a:p>
          <a:p>
            <a:r>
              <a:rPr lang="en-US" dirty="0"/>
              <a:t>    if </a:t>
            </a:r>
            <a:r>
              <a:rPr lang="en-US" dirty="0" err="1"/>
              <a:t>step.startswith</a:t>
            </a:r>
            <a:r>
              <a:rPr lang="en-US" dirty="0"/>
              <a:t>("CALL_TOOL:"):</a:t>
            </a:r>
          </a:p>
          <a:p>
            <a:r>
              <a:rPr lang="en-US" dirty="0"/>
              <a:t>        _, tool, </a:t>
            </a:r>
            <a:r>
              <a:rPr lang="en-US" dirty="0" err="1"/>
              <a:t>arg</a:t>
            </a:r>
            <a:r>
              <a:rPr lang="en-US" dirty="0"/>
              <a:t> = </a:t>
            </a:r>
            <a:r>
              <a:rPr lang="en-US" dirty="0" err="1"/>
              <a:t>step.split</a:t>
            </a:r>
            <a:r>
              <a:rPr lang="en-US" dirty="0"/>
              <a:t>(":", 2)</a:t>
            </a:r>
          </a:p>
          <a:p>
            <a:r>
              <a:rPr lang="en-US" dirty="0"/>
              <a:t>        return </a:t>
            </a:r>
            <a:r>
              <a:rPr lang="en-US" dirty="0" err="1"/>
              <a:t>tools.call</a:t>
            </a:r>
            <a:r>
              <a:rPr lang="en-US" dirty="0"/>
              <a:t>(tool, </a:t>
            </a:r>
            <a:r>
              <a:rPr lang="en-US" dirty="0" err="1"/>
              <a:t>arg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  # Otherwise let LLM handle it</a:t>
            </a:r>
          </a:p>
          <a:p>
            <a:r>
              <a:rPr lang="en-US" dirty="0"/>
              <a:t>    return {"ok": True, "result": </a:t>
            </a:r>
            <a:r>
              <a:rPr lang="en-US" dirty="0" err="1"/>
              <a:t>llm</a:t>
            </a:r>
            <a:r>
              <a:rPr lang="en-US" dirty="0"/>
              <a:t>([</a:t>
            </a:r>
          </a:p>
          <a:p>
            <a:r>
              <a:rPr lang="en-US" dirty="0"/>
              <a:t>        {"role": "system", "content": "Execute step and return result."},</a:t>
            </a:r>
          </a:p>
          <a:p>
            <a:r>
              <a:rPr lang="en-US" dirty="0"/>
              <a:t>        {"role": "user", "content": step}</a:t>
            </a:r>
          </a:p>
          <a:p>
            <a:r>
              <a:rPr lang="en-US" dirty="0"/>
              <a:t>    ])}</a:t>
            </a:r>
          </a:p>
          <a:p>
            <a:r>
              <a:rPr lang="en-US" b="1" dirty="0"/>
              <a:t>Explain:</a:t>
            </a:r>
          </a:p>
          <a:p>
            <a:r>
              <a:rPr lang="en-US" dirty="0"/>
              <a:t>Supports tool calls:</a:t>
            </a:r>
            <a:br>
              <a:rPr lang="en-US" dirty="0"/>
            </a:br>
            <a:r>
              <a:rPr lang="en-US" dirty="0" err="1"/>
              <a:t>CALL_TOOL:summarize:my</a:t>
            </a:r>
            <a:r>
              <a:rPr lang="en-US" dirty="0"/>
              <a:t> text here</a:t>
            </a:r>
          </a:p>
          <a:p>
            <a:r>
              <a:rPr lang="en-US" dirty="0"/>
              <a:t>Default = use LLM to perform the step</a:t>
            </a:r>
          </a:p>
          <a:p>
            <a:r>
              <a:rPr lang="en-US" dirty="0"/>
              <a:t>Execution = brain + tools working </a:t>
            </a:r>
            <a:r>
              <a:rPr lang="en-US" dirty="0" err="1"/>
              <a:t>togethe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930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1E6D-DDE2-0F0B-B7BF-C9342D78AC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0"/>
            <a:ext cx="7950200" cy="1436687"/>
          </a:xfrm>
        </p:spPr>
        <p:txBody>
          <a:bodyPr>
            <a:normAutofit fontScale="90000"/>
          </a:bodyPr>
          <a:lstStyle/>
          <a:p>
            <a:r>
              <a:rPr lang="en-US" dirty="0"/>
              <a:t>PART 7 — REACT LOOP (Thought → Action → Observation)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D0886-0837-67B4-FE20-6718629F4D4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12800" y="1492250"/>
            <a:ext cx="9067800" cy="5489575"/>
          </a:xfrm>
        </p:spPr>
        <p:txBody>
          <a:bodyPr>
            <a:normAutofit fontScale="32500" lnSpcReduction="2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Classic agent cycle used in many frameworks like </a:t>
            </a:r>
            <a:r>
              <a:rPr lang="en-IN" dirty="0" err="1"/>
              <a:t>LangChain</a:t>
            </a:r>
            <a:r>
              <a:rPr lang="en-IN" dirty="0"/>
              <a:t>, </a:t>
            </a:r>
            <a:r>
              <a:rPr lang="en-IN" dirty="0" err="1"/>
              <a:t>AutoGPT</a:t>
            </a:r>
            <a:r>
              <a:rPr lang="en-IN" dirty="0"/>
              <a:t>, </a:t>
            </a:r>
            <a:r>
              <a:rPr lang="en-IN" dirty="0" err="1"/>
              <a:t>CrewAI</a:t>
            </a:r>
            <a:r>
              <a:rPr lang="en-IN" dirty="0"/>
              <a:t>.</a:t>
            </a:r>
          </a:p>
          <a:p>
            <a:r>
              <a:rPr lang="en-IN" b="1" dirty="0"/>
              <a:t>Code:</a:t>
            </a:r>
          </a:p>
          <a:p>
            <a:r>
              <a:rPr lang="en-IN" dirty="0"/>
              <a:t>def </a:t>
            </a:r>
            <a:r>
              <a:rPr lang="en-IN" dirty="0" err="1"/>
              <a:t>react_loop</a:t>
            </a:r>
            <a:r>
              <a:rPr lang="en-IN" dirty="0"/>
              <a:t>(goal, context="", </a:t>
            </a:r>
            <a:r>
              <a:rPr lang="en-IN" dirty="0" err="1"/>
              <a:t>max_iters</a:t>
            </a:r>
            <a:r>
              <a:rPr lang="en-IN" dirty="0"/>
              <a:t>=5):</a:t>
            </a:r>
          </a:p>
          <a:p>
            <a:r>
              <a:rPr lang="en-IN" dirty="0"/>
              <a:t>    messages = [</a:t>
            </a:r>
          </a:p>
          <a:p>
            <a:r>
              <a:rPr lang="en-IN" dirty="0"/>
              <a:t>        {"role": "system", "content": (</a:t>
            </a:r>
          </a:p>
          <a:p>
            <a:r>
              <a:rPr lang="en-IN" dirty="0"/>
              <a:t>            "Follow Thought -&gt; Action -&gt; Observation. "</a:t>
            </a:r>
          </a:p>
          <a:p>
            <a:r>
              <a:rPr lang="en-IN" dirty="0"/>
              <a:t>            "Use CALL_TOOL:&lt;tool&gt;:&lt;</a:t>
            </a:r>
            <a:r>
              <a:rPr lang="en-IN" dirty="0" err="1"/>
              <a:t>arg</a:t>
            </a:r>
            <a:r>
              <a:rPr lang="en-IN" dirty="0"/>
              <a:t>&gt;. Say DONE when finished."</a:t>
            </a:r>
          </a:p>
          <a:p>
            <a:r>
              <a:rPr lang="en-IN" dirty="0"/>
              <a:t>        )},</a:t>
            </a:r>
          </a:p>
          <a:p>
            <a:r>
              <a:rPr lang="en-IN" dirty="0"/>
              <a:t>        {"role": "user", "content": </a:t>
            </a:r>
            <a:r>
              <a:rPr lang="en-IN" dirty="0" err="1"/>
              <a:t>f"Goal</a:t>
            </a:r>
            <a:r>
              <a:rPr lang="en-IN" dirty="0"/>
              <a:t>: {goal}\</a:t>
            </a:r>
            <a:r>
              <a:rPr lang="en-IN" dirty="0" err="1"/>
              <a:t>nContext</a:t>
            </a:r>
            <a:r>
              <a:rPr lang="en-IN" dirty="0"/>
              <a:t>: {context}"}</a:t>
            </a:r>
          </a:p>
          <a:p>
            <a:r>
              <a:rPr lang="en-IN" dirty="0"/>
              <a:t>    ]</a:t>
            </a:r>
          </a:p>
          <a:p>
            <a:endParaRPr lang="en-IN" dirty="0"/>
          </a:p>
          <a:p>
            <a:r>
              <a:rPr lang="en-IN" dirty="0"/>
              <a:t>        # Extract THOUGHT and ACTION</a:t>
            </a:r>
          </a:p>
          <a:p>
            <a:r>
              <a:rPr lang="en-IN" dirty="0"/>
              <a:t>observation = </a:t>
            </a:r>
            <a:r>
              <a:rPr lang="en-IN" dirty="0" err="1"/>
              <a:t>result.get</a:t>
            </a:r>
            <a:r>
              <a:rPr lang="en-IN" dirty="0"/>
              <a:t>("result") or </a:t>
            </a:r>
            <a:r>
              <a:rPr lang="en-IN" dirty="0" err="1"/>
              <a:t>result.get</a:t>
            </a:r>
            <a:r>
              <a:rPr lang="en-IN" dirty="0"/>
              <a:t>("error")</a:t>
            </a:r>
          </a:p>
          <a:p>
            <a:endParaRPr lang="en-IN" dirty="0"/>
          </a:p>
          <a:p>
            <a:r>
              <a:rPr lang="en-IN" dirty="0"/>
              <a:t>        # Feed back</a:t>
            </a:r>
          </a:p>
          <a:p>
            <a:r>
              <a:rPr lang="en-IN" dirty="0"/>
              <a:t>        </a:t>
            </a:r>
            <a:r>
              <a:rPr lang="en-IN" dirty="0" err="1"/>
              <a:t>messages.append</a:t>
            </a:r>
            <a:r>
              <a:rPr lang="en-IN" dirty="0"/>
              <a:t>({"role": "assistant", "content": reply})</a:t>
            </a:r>
          </a:p>
          <a:p>
            <a:r>
              <a:rPr lang="en-IN" dirty="0"/>
              <a:t>        </a:t>
            </a:r>
            <a:r>
              <a:rPr lang="en-IN" dirty="0" err="1"/>
              <a:t>messages.append</a:t>
            </a:r>
            <a:r>
              <a:rPr lang="en-IN" dirty="0"/>
              <a:t>({"role": "user",      "content": </a:t>
            </a:r>
            <a:r>
              <a:rPr lang="en-IN" dirty="0" err="1"/>
              <a:t>f"Observation</a:t>
            </a:r>
            <a:r>
              <a:rPr lang="en-IN" dirty="0"/>
              <a:t>: {observation}"})</a:t>
            </a:r>
          </a:p>
          <a:p>
            <a:endParaRPr lang="en-IN" dirty="0"/>
          </a:p>
          <a:p>
            <a:r>
              <a:rPr lang="en-IN" dirty="0"/>
              <a:t>    return {"ok": False, "error": "Max iterations reached"}</a:t>
            </a:r>
            <a:endParaRPr lang="en-IN" b="1" dirty="0"/>
          </a:p>
          <a:p>
            <a:r>
              <a:rPr lang="en-IN" dirty="0" err="1"/>
              <a:t>ReACT</a:t>
            </a:r>
            <a:r>
              <a:rPr lang="en-IN" dirty="0"/>
              <a:t> = classic agent loop</a:t>
            </a:r>
          </a:p>
          <a:p>
            <a:r>
              <a:rPr lang="en-IN" dirty="0"/>
              <a:t>LLM thinks → Does an action → Sees result → Continues</a:t>
            </a:r>
          </a:p>
          <a:p>
            <a:r>
              <a:rPr lang="en-IN" dirty="0"/>
              <a:t>All modern agent frameworks use this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929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900" y="806450"/>
            <a:ext cx="7950200" cy="1436687"/>
          </a:xfrm>
        </p:spPr>
        <p:txBody>
          <a:bodyPr/>
          <a:lstStyle/>
          <a:p>
            <a:r>
              <a:rPr dirty="0"/>
              <a:t>12.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101850"/>
            <a:ext cx="7950200" cy="3795713"/>
          </a:xfrm>
        </p:spPr>
        <p:txBody>
          <a:bodyPr/>
          <a:lstStyle/>
          <a:p>
            <a:r>
              <a:rPr dirty="0"/>
              <a:t>- Keep plans short</a:t>
            </a:r>
          </a:p>
          <a:p>
            <a:r>
              <a:rPr dirty="0"/>
              <a:t>- Verify output after each step</a:t>
            </a:r>
          </a:p>
          <a:p>
            <a:r>
              <a:rPr dirty="0"/>
              <a:t>- Avoid infinite loops</a:t>
            </a:r>
          </a:p>
          <a:p>
            <a:r>
              <a:rPr dirty="0"/>
              <a:t>- Log every action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3300" y="958850"/>
            <a:ext cx="7950200" cy="1436687"/>
          </a:xfrm>
        </p:spPr>
        <p:txBody>
          <a:bodyPr/>
          <a:lstStyle/>
          <a:p>
            <a:r>
              <a:rPr dirty="0"/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254250"/>
            <a:ext cx="7950200" cy="3795713"/>
          </a:xfrm>
        </p:spPr>
        <p:txBody>
          <a:bodyPr/>
          <a:lstStyle/>
          <a:p>
            <a:r>
              <a:rPr dirty="0"/>
              <a:t>Custom agent workflows = predictable + powerful.</a:t>
            </a:r>
          </a:p>
          <a:p>
            <a:r>
              <a:rPr dirty="0"/>
              <a:t>Combining planning + tools enables real-world automation.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548</TotalTime>
  <Words>1374</Words>
  <Application>Microsoft Office PowerPoint</Application>
  <PresentationFormat>Custom</PresentationFormat>
  <Paragraphs>201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Garamond</vt:lpstr>
      <vt:lpstr>Organic</vt:lpstr>
      <vt:lpstr>PowerPoint Presentation</vt:lpstr>
      <vt:lpstr>PowerPoint Presentation</vt:lpstr>
      <vt:lpstr> What Are Custom Agent Workflows?</vt:lpstr>
      <vt:lpstr>2. Why Custom Workflows?</vt:lpstr>
      <vt:lpstr>3. Core Components of a Workflow</vt:lpstr>
      <vt:lpstr>4. Agent Planning</vt:lpstr>
      <vt:lpstr>5. Types of Planners</vt:lpstr>
      <vt:lpstr>6. Python Example: Simple Planner</vt:lpstr>
      <vt:lpstr>7. Workflow Execution Cycle</vt:lpstr>
      <vt:lpstr>8. Example: Multi-step Workflow</vt:lpstr>
      <vt:lpstr>9. ReAct Planning Pattern</vt:lpstr>
      <vt:lpstr>10. Custom Workflow Template</vt:lpstr>
      <vt:lpstr>11. Visual Architecture</vt:lpstr>
      <vt:lpstr>PART 1 — Connect to Ollama (LLM Backend)</vt:lpstr>
      <vt:lpstr>PART 2 — Helper Function to Talk to the LLM</vt:lpstr>
      <vt:lpstr>PART 3 — LLM-Based Planner (Goal → Steps)</vt:lpstr>
      <vt:lpstr>PART 4 — Build a Tool Registry</vt:lpstr>
      <vt:lpstr>PART 5 — Add Some Real Tools</vt:lpstr>
      <vt:lpstr>PART 6 — Workflow Execution Engine</vt:lpstr>
      <vt:lpstr>PART 7 — REACT LOOP (Thought → Action → Observation)</vt:lpstr>
      <vt:lpstr>12. Best Practices</vt:lpstr>
      <vt:lpstr>13.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124</cp:revision>
  <dcterms:created xsi:type="dcterms:W3CDTF">2025-10-04T15:17:48Z</dcterms:created>
  <dcterms:modified xsi:type="dcterms:W3CDTF">2025-12-02T12:17:15Z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