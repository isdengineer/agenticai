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7"/>
  </p:notesMasterIdLst>
  <p:sldIdLst>
    <p:sldId id="286" r:id="rId2"/>
    <p:sldId id="284" r:id="rId3"/>
    <p:sldId id="257" r:id="rId4"/>
    <p:sldId id="258" r:id="rId5"/>
    <p:sldId id="259" r:id="rId6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 err="1"/>
            <a:t>Streamlit</a:t>
          </a:r>
          <a:r>
            <a:rPr lang="en-IN" dirty="0"/>
            <a:t> UI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188AACEF-5B7A-4D15-B81E-24431ED3D150}">
      <dgm:prSet phldrT="[Text]" phldr="0"/>
      <dgm:spPr/>
      <dgm:t>
        <a:bodyPr/>
        <a:lstStyle/>
        <a:p>
          <a:r>
            <a:rPr lang="en-IN"/>
            <a:t>Integration with agents</a:t>
          </a:r>
          <a:endParaRPr lang="en-IN" dirty="0"/>
        </a:p>
      </dgm:t>
    </dgm:pt>
    <dgm:pt modelId="{16240931-07AF-421B-B56D-2F6C6110BAEF}" type="parTrans" cxnId="{F9A434B7-B2E8-40BE-BE9C-4840DF657B5B}">
      <dgm:prSet/>
      <dgm:spPr/>
    </dgm:pt>
    <dgm:pt modelId="{5A0D2AE8-8B2B-49B8-9419-9C6CB3894939}" type="sibTrans" cxnId="{F9A434B7-B2E8-40BE-BE9C-4840DF657B5B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578B85-994B-4880-B322-C9E417CAF76B}" type="pres">
      <dgm:prSet presAssocID="{3FA4A193-E0A3-407D-8D9A-10FCCD2B83EF}" presName="spacer" presStyleCnt="0"/>
      <dgm:spPr/>
    </dgm:pt>
    <dgm:pt modelId="{6E855FF6-CEA1-4229-AB38-7E4ABB13777C}" type="pres">
      <dgm:prSet presAssocID="{188AACEF-5B7A-4D15-B81E-24431ED3D1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CB50085D-B9CF-499E-BEA8-D24230CFBA37}" type="presOf" srcId="{33530723-DC20-49DC-BDF1-C327B49DB98B}" destId="{5001E592-11D5-4BFB-8AFD-90D8F5F51859}" srcOrd="0" destOrd="0" presId="urn:microsoft.com/office/officeart/2005/8/layout/vList2"/>
    <dgm:cxn modelId="{D8CC369F-08A3-4AD4-ACC2-BCA39818A1A8}" type="presOf" srcId="{188AACEF-5B7A-4D15-B81E-24431ED3D150}" destId="{6E855FF6-CEA1-4229-AB38-7E4ABB13777C}" srcOrd="0" destOrd="0" presId="urn:microsoft.com/office/officeart/2005/8/layout/vList2"/>
    <dgm:cxn modelId="{F9A434B7-B2E8-40BE-BE9C-4840DF657B5B}" srcId="{A3ADC42E-D92D-4CE3-B515-AB4674633F03}" destId="{188AACEF-5B7A-4D15-B81E-24431ED3D150}" srcOrd="1" destOrd="0" parTransId="{16240931-07AF-421B-B56D-2F6C6110BAEF}" sibTransId="{5A0D2AE8-8B2B-49B8-9419-9C6CB3894939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55E77285-0F8E-4889-BB84-6E35A27A2793}" type="presParOf" srcId="{BD18783E-6D04-4A3E-834F-C1539812ED22}" destId="{5001E592-11D5-4BFB-8AFD-90D8F5F51859}" srcOrd="0" destOrd="0" presId="urn:microsoft.com/office/officeart/2005/8/layout/vList2"/>
    <dgm:cxn modelId="{00936448-D2B2-4CD5-9767-481D5E675C8D}" type="presParOf" srcId="{BD18783E-6D04-4A3E-834F-C1539812ED22}" destId="{9F578B85-994B-4880-B322-C9E417CAF76B}" srcOrd="1" destOrd="0" presId="urn:microsoft.com/office/officeart/2005/8/layout/vList2"/>
    <dgm:cxn modelId="{1DF1FC13-3B8C-4981-9ED7-E0AE523F803C}" type="presParOf" srcId="{BD18783E-6D04-4A3E-834F-C1539812ED22}" destId="{6E855FF6-CEA1-4229-AB38-7E4ABB13777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13552"/>
          <a:ext cx="7128933" cy="2274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 err="1"/>
            <a:t>Streamlit</a:t>
          </a:r>
          <a:r>
            <a:rPr lang="en-IN" sz="6100" kern="1200" dirty="0"/>
            <a:t> UI</a:t>
          </a:r>
        </a:p>
      </dsp:txBody>
      <dsp:txXfrm>
        <a:off x="111052" y="124604"/>
        <a:ext cx="6906829" cy="2052814"/>
      </dsp:txXfrm>
    </dsp:sp>
    <dsp:sp modelId="{6E855FF6-CEA1-4229-AB38-7E4ABB13777C}">
      <dsp:nvSpPr>
        <dsp:cNvPr id="0" name=""/>
        <dsp:cNvSpPr/>
      </dsp:nvSpPr>
      <dsp:spPr>
        <a:xfrm>
          <a:off x="0" y="2464150"/>
          <a:ext cx="7128933" cy="2274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/>
            <a:t>Integration with agents</a:t>
          </a:r>
          <a:endParaRPr lang="en-IN" sz="6100" kern="1200" dirty="0"/>
        </a:p>
      </dsp:txBody>
      <dsp:txXfrm>
        <a:off x="111052" y="2575202"/>
        <a:ext cx="6906829" cy="2052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234301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 err="1"/>
              <a:t>Streamlit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December 3,2025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587282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1900" y="349250"/>
            <a:ext cx="7950200" cy="1436687"/>
          </a:xfrm>
        </p:spPr>
        <p:txBody>
          <a:bodyPr>
            <a:normAutofit/>
          </a:bodyPr>
          <a:lstStyle/>
          <a:p>
            <a:r>
              <a:rPr lang="en-IN" dirty="0"/>
              <a:t>Why </a:t>
            </a:r>
            <a:r>
              <a:rPr lang="en-IN" dirty="0" err="1"/>
              <a:t>Streamlit</a:t>
            </a:r>
            <a:r>
              <a:rPr lang="en-IN" dirty="0"/>
              <a:t> for Agents?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79500" y="1644650"/>
            <a:ext cx="7950200" cy="4724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Problem: AI Agents execute complex, multi-step thought processes (like </a:t>
            </a:r>
            <a:r>
              <a:rPr lang="en-US" dirty="0" err="1"/>
              <a:t>ReAct</a:t>
            </a:r>
            <a:r>
              <a:rPr lang="en-US" dirty="0"/>
              <a:t>, function calling, and tool execution). Building traditional web interfaces (React, Vue) for these quickly changing prototypes is too time-consuming.</a:t>
            </a:r>
          </a:p>
          <a:p>
            <a:endParaRPr lang="en-US" dirty="0"/>
          </a:p>
          <a:p>
            <a:r>
              <a:rPr lang="en-US" dirty="0"/>
              <a:t>Solution: </a:t>
            </a:r>
            <a:r>
              <a:rPr lang="en-US" dirty="0" err="1"/>
              <a:t>Streamlit</a:t>
            </a:r>
            <a:endParaRPr lang="en-US" dirty="0"/>
          </a:p>
          <a:p>
            <a:endParaRPr lang="en-US" dirty="0"/>
          </a:p>
          <a:p>
            <a:r>
              <a:rPr lang="en-US" dirty="0"/>
              <a:t>Python Native: Write all UI and backend logic entirely in Python, eliminating front-end development.</a:t>
            </a:r>
          </a:p>
          <a:p>
            <a:endParaRPr lang="en-US" dirty="0"/>
          </a:p>
          <a:p>
            <a:r>
              <a:rPr lang="en-US" dirty="0"/>
              <a:t>Rapid Prototyping: Turn a few lines of Python code into a fully interactive web app instantly.</a:t>
            </a:r>
          </a:p>
          <a:p>
            <a:endParaRPr lang="en-US" dirty="0"/>
          </a:p>
          <a:p>
            <a:r>
              <a:rPr lang="en-US" dirty="0"/>
              <a:t>Visualization Power: Excellent for displaying complex data structures (tool calls, intermediate thoughts, tabular outputs) clearly and efficiently.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12900" y="806450"/>
            <a:ext cx="7950200" cy="1436687"/>
          </a:xfrm>
        </p:spPr>
        <p:txBody>
          <a:bodyPr/>
          <a:lstStyle/>
          <a:p>
            <a:r>
              <a:rPr lang="en-US" dirty="0"/>
              <a:t>: Key </a:t>
            </a:r>
            <a:r>
              <a:rPr lang="en-US" dirty="0" err="1"/>
              <a:t>Streamlit</a:t>
            </a:r>
            <a:r>
              <a:rPr lang="en-US" dirty="0"/>
              <a:t> Features for Agents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0A90E9-BB25-ED4F-D8FA-3F1889794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924425"/>
              </p:ext>
            </p:extLst>
          </p:nvPr>
        </p:nvGraphicFramePr>
        <p:xfrm>
          <a:off x="1308100" y="2025651"/>
          <a:ext cx="8077200" cy="4373532"/>
        </p:xfrm>
        <a:graphic>
          <a:graphicData uri="http://schemas.openxmlformats.org/drawingml/2006/table">
            <a:tbl>
              <a:tblPr/>
              <a:tblGrid>
                <a:gridCol w="2692400">
                  <a:extLst>
                    <a:ext uri="{9D8B030D-6E8A-4147-A177-3AD203B41FA5}">
                      <a16:colId xmlns:a16="http://schemas.microsoft.com/office/drawing/2014/main" val="297426954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783441536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523210003"/>
                    </a:ext>
                  </a:extLst>
                </a:gridCol>
              </a:tblGrid>
              <a:tr h="2926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Streamlit Command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Agentic AI Use Case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491910"/>
                  </a:ext>
                </a:extLst>
              </a:tr>
              <a:tr h="6938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 Input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st.chat_input()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st.button()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Capturing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user's query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triggering the agent's run.</a:t>
                      </a: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372826"/>
                  </a:ext>
                </a:extLst>
              </a:tr>
              <a:tr h="6938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Status/Loading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st.spinner()</a:t>
                      </a:r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st.progress()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Showing the user that the agent is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thinking or waiting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for a tool result.</a:t>
                      </a: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990457"/>
                  </a:ext>
                </a:extLst>
              </a:tr>
              <a:tr h="6938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Conversation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st.chat_message()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Structuring the interface as a clean, familiar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chat history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040913"/>
                  </a:ext>
                </a:extLst>
              </a:tr>
              <a:tr h="11015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 Management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st.session_state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Storing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initialized agent object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(the most expensive part) to prevent slow reloading on every interaction.</a:t>
                      </a: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139860"/>
                  </a:ext>
                </a:extLst>
              </a:tr>
              <a:tr h="8977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Visualization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st.json()</a:t>
                      </a:r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st.dataframe()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Displaying the raw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JSON tool call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or data retrieved from an external API.</a:t>
                      </a:r>
                    </a:p>
                  </a:txBody>
                  <a:tcPr marL="53618" marR="53618" marT="35745" marB="3574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0514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79500" y="635793"/>
            <a:ext cx="7950200" cy="1436687"/>
          </a:xfrm>
        </p:spPr>
        <p:txBody>
          <a:bodyPr/>
          <a:lstStyle/>
          <a:p>
            <a:r>
              <a:rPr lang="en-IN" dirty="0"/>
              <a:t>Agent UI Architecture &amp; State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03300" y="1949450"/>
            <a:ext cx="8636000" cy="4252913"/>
          </a:xfrm>
        </p:spPr>
        <p:txBody>
          <a:bodyPr>
            <a:noAutofit/>
          </a:bodyPr>
          <a:lstStyle/>
          <a:p>
            <a:r>
              <a:rPr lang="en-US" sz="1000" dirty="0"/>
              <a:t>Core Principle: Initialize the heavy resources (LLM, Agent) only once.</a:t>
            </a:r>
          </a:p>
          <a:p>
            <a:endParaRPr lang="en-US" sz="1000" dirty="0"/>
          </a:p>
          <a:p>
            <a:r>
              <a:rPr lang="en-US" sz="1000" dirty="0"/>
              <a:t>Action: Initialization Check</a:t>
            </a:r>
          </a:p>
          <a:p>
            <a:endParaRPr lang="en-US" sz="1000" dirty="0"/>
          </a:p>
          <a:p>
            <a:r>
              <a:rPr lang="en-US" sz="1000" dirty="0"/>
              <a:t>Use if 'agent' not in </a:t>
            </a:r>
            <a:r>
              <a:rPr lang="en-US" sz="1000" dirty="0" err="1"/>
              <a:t>st.session_state</a:t>
            </a:r>
            <a:r>
              <a:rPr lang="en-US" sz="1000" dirty="0"/>
              <a:t>: to control the one-time setup.</a:t>
            </a:r>
          </a:p>
          <a:p>
            <a:endParaRPr lang="en-US" sz="1000" dirty="0"/>
          </a:p>
          <a:p>
            <a:r>
              <a:rPr lang="en-US" sz="1000" dirty="0"/>
              <a:t>Initialize the LLM (e.g., </a:t>
            </a:r>
            <a:r>
              <a:rPr lang="en-US" sz="1000" dirty="0" err="1"/>
              <a:t>Ollama</a:t>
            </a:r>
            <a:r>
              <a:rPr lang="en-US" sz="1000" dirty="0"/>
              <a:t>(...)) and your agent object (</a:t>
            </a:r>
            <a:r>
              <a:rPr lang="en-US" sz="1000" dirty="0" err="1"/>
              <a:t>ReActAgent</a:t>
            </a:r>
            <a:r>
              <a:rPr lang="en-US" sz="1000" dirty="0"/>
              <a:t>(...)).</a:t>
            </a:r>
          </a:p>
          <a:p>
            <a:endParaRPr lang="en-US" sz="1000" dirty="0"/>
          </a:p>
          <a:p>
            <a:r>
              <a:rPr lang="en-US" sz="1000" dirty="0"/>
              <a:t>Store them: </a:t>
            </a:r>
            <a:r>
              <a:rPr lang="en-US" sz="1000" dirty="0" err="1"/>
              <a:t>st.session_state.agent</a:t>
            </a:r>
            <a:r>
              <a:rPr lang="en-US" sz="1000" dirty="0"/>
              <a:t> = agent.</a:t>
            </a:r>
          </a:p>
          <a:p>
            <a:endParaRPr lang="en-US" sz="1000" dirty="0"/>
          </a:p>
          <a:p>
            <a:r>
              <a:rPr lang="en-US" sz="1000" dirty="0"/>
              <a:t>Action: Conversation Management</a:t>
            </a:r>
          </a:p>
          <a:p>
            <a:endParaRPr lang="en-US" sz="1000" dirty="0"/>
          </a:p>
          <a:p>
            <a:r>
              <a:rPr lang="en-US" sz="1000" dirty="0"/>
              <a:t>Use </a:t>
            </a:r>
            <a:r>
              <a:rPr lang="en-US" sz="1000" dirty="0" err="1"/>
              <a:t>st.session_state.messages</a:t>
            </a:r>
            <a:r>
              <a:rPr lang="en-US" sz="1000" dirty="0"/>
              <a:t> to store the history of user prompts and agent responses.</a:t>
            </a:r>
          </a:p>
          <a:p>
            <a:endParaRPr lang="en-US" sz="1000" dirty="0"/>
          </a:p>
          <a:p>
            <a:r>
              <a:rPr lang="en-US" sz="1000" dirty="0"/>
              <a:t>This preserves context across user interactions.</a:t>
            </a:r>
            <a:endParaRPr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606</TotalTime>
  <Words>366</Words>
  <Application>Microsoft Office PowerPoint</Application>
  <PresentationFormat>Custom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Garamond</vt:lpstr>
      <vt:lpstr>Google Sans Text</vt:lpstr>
      <vt:lpstr>Organic</vt:lpstr>
      <vt:lpstr>PowerPoint Presentation</vt:lpstr>
      <vt:lpstr>PowerPoint Presentation</vt:lpstr>
      <vt:lpstr>Why Streamlit for Agents?</vt:lpstr>
      <vt:lpstr>: Key Streamlit Features for Agents</vt:lpstr>
      <vt:lpstr>Agent UI Architecture &amp; State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131</cp:revision>
  <dcterms:created xsi:type="dcterms:W3CDTF">2025-10-04T15:17:48Z</dcterms:created>
  <dcterms:modified xsi:type="dcterms:W3CDTF">2025-12-03T14:29:41Z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