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12"/>
  </p:notesMasterIdLst>
  <p:sldIdLst>
    <p:sldId id="286" r:id="rId2"/>
    <p:sldId id="284" r:id="rId3"/>
    <p:sldId id="256" r:id="rId4"/>
    <p:sldId id="257" r:id="rId5"/>
    <p:sldId id="258" r:id="rId6"/>
    <p:sldId id="259" r:id="rId7"/>
    <p:sldId id="261" r:id="rId8"/>
    <p:sldId id="262" r:id="rId9"/>
    <p:sldId id="263" r:id="rId10"/>
    <p:sldId id="264" r:id="rId11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 err="1"/>
            <a:t>Streamlit</a:t>
          </a:r>
          <a:r>
            <a:rPr lang="en-IN" dirty="0"/>
            <a:t> UI and Agent </a:t>
          </a:r>
          <a:r>
            <a:rPr lang="en-IN" dirty="0" err="1"/>
            <a:t>integartion</a:t>
          </a:r>
          <a:endParaRPr lang="en-IN" dirty="0"/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188AACEF-5B7A-4D15-B81E-24431ED3D150}">
      <dgm:prSet phldrT="[Text]" phldr="0"/>
      <dgm:spPr/>
      <dgm:t>
        <a:bodyPr/>
        <a:lstStyle/>
        <a:p>
          <a:r>
            <a:rPr lang="en-IN" dirty="0" err="1"/>
            <a:t>Chromadb</a:t>
          </a:r>
          <a:endParaRPr lang="en-IN" dirty="0"/>
        </a:p>
      </dgm:t>
    </dgm:pt>
    <dgm:pt modelId="{16240931-07AF-421B-B56D-2F6C6110BAEF}" type="parTrans" cxnId="{F9A434B7-B2E8-40BE-BE9C-4840DF657B5B}">
      <dgm:prSet/>
      <dgm:spPr/>
    </dgm:pt>
    <dgm:pt modelId="{5A0D2AE8-8B2B-49B8-9419-9C6CB3894939}" type="sibTrans" cxnId="{F9A434B7-B2E8-40BE-BE9C-4840DF657B5B}">
      <dgm:prSet/>
      <dgm:spPr/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578B85-994B-4880-B322-C9E417CAF76B}" type="pres">
      <dgm:prSet presAssocID="{3FA4A193-E0A3-407D-8D9A-10FCCD2B83EF}" presName="spacer" presStyleCnt="0"/>
      <dgm:spPr/>
    </dgm:pt>
    <dgm:pt modelId="{6E855FF6-CEA1-4229-AB38-7E4ABB13777C}" type="pres">
      <dgm:prSet presAssocID="{188AACEF-5B7A-4D15-B81E-24431ED3D15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CB50085D-B9CF-499E-BEA8-D24230CFBA37}" type="presOf" srcId="{33530723-DC20-49DC-BDF1-C327B49DB98B}" destId="{5001E592-11D5-4BFB-8AFD-90D8F5F51859}" srcOrd="0" destOrd="0" presId="urn:microsoft.com/office/officeart/2005/8/layout/vList2"/>
    <dgm:cxn modelId="{D8CC369F-08A3-4AD4-ACC2-BCA39818A1A8}" type="presOf" srcId="{188AACEF-5B7A-4D15-B81E-24431ED3D150}" destId="{6E855FF6-CEA1-4229-AB38-7E4ABB13777C}" srcOrd="0" destOrd="0" presId="urn:microsoft.com/office/officeart/2005/8/layout/vList2"/>
    <dgm:cxn modelId="{F9A434B7-B2E8-40BE-BE9C-4840DF657B5B}" srcId="{A3ADC42E-D92D-4CE3-B515-AB4674633F03}" destId="{188AACEF-5B7A-4D15-B81E-24431ED3D150}" srcOrd="1" destOrd="0" parTransId="{16240931-07AF-421B-B56D-2F6C6110BAEF}" sibTransId="{5A0D2AE8-8B2B-49B8-9419-9C6CB3894939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55E77285-0F8E-4889-BB84-6E35A27A2793}" type="presParOf" srcId="{BD18783E-6D04-4A3E-834F-C1539812ED22}" destId="{5001E592-11D5-4BFB-8AFD-90D8F5F51859}" srcOrd="0" destOrd="0" presId="urn:microsoft.com/office/officeart/2005/8/layout/vList2"/>
    <dgm:cxn modelId="{00936448-D2B2-4CD5-9767-481D5E675C8D}" type="presParOf" srcId="{BD18783E-6D04-4A3E-834F-C1539812ED22}" destId="{9F578B85-994B-4880-B322-C9E417CAF76B}" srcOrd="1" destOrd="0" presId="urn:microsoft.com/office/officeart/2005/8/layout/vList2"/>
    <dgm:cxn modelId="{1DF1FC13-3B8C-4981-9ED7-E0AE523F803C}" type="presParOf" srcId="{BD18783E-6D04-4A3E-834F-C1539812ED22}" destId="{6E855FF6-CEA1-4229-AB38-7E4ABB13777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4630"/>
          <a:ext cx="7128933" cy="228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 err="1"/>
            <a:t>Streamlit</a:t>
          </a:r>
          <a:r>
            <a:rPr lang="en-IN" sz="6100" kern="1200" dirty="0"/>
            <a:t> UI and Agent </a:t>
          </a:r>
          <a:r>
            <a:rPr lang="en-IN" sz="6100" kern="1200" dirty="0" err="1"/>
            <a:t>integartion</a:t>
          </a:r>
          <a:endParaRPr lang="en-IN" sz="6100" kern="1200" dirty="0"/>
        </a:p>
      </dsp:txBody>
      <dsp:txXfrm>
        <a:off x="111488" y="116118"/>
        <a:ext cx="6905957" cy="2060864"/>
      </dsp:txXfrm>
    </dsp:sp>
    <dsp:sp modelId="{6E855FF6-CEA1-4229-AB38-7E4ABB13777C}">
      <dsp:nvSpPr>
        <dsp:cNvPr id="0" name=""/>
        <dsp:cNvSpPr/>
      </dsp:nvSpPr>
      <dsp:spPr>
        <a:xfrm>
          <a:off x="0" y="2464150"/>
          <a:ext cx="7128933" cy="2283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 err="1"/>
            <a:t>Chromadb</a:t>
          </a:r>
          <a:endParaRPr lang="en-IN" sz="6100" kern="1200" dirty="0"/>
        </a:p>
      </dsp:txBody>
      <dsp:txXfrm>
        <a:off x="111488" y="2575638"/>
        <a:ext cx="6905957" cy="2060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07230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 err="1"/>
              <a:t>Streamlit</a:t>
            </a:r>
            <a:r>
              <a:rPr lang="en-IN" sz="4400" dirty="0"/>
              <a:t> and </a:t>
            </a:r>
            <a:r>
              <a:rPr lang="en-IN" sz="4400" dirty="0" err="1"/>
              <a:t>Chromadb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December 4,2025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pic>
        <p:nvPicPr>
          <p:cNvPr id="6" name="Picture 5" descr="A logo with blue berries&#10;&#10;AI-generated content may be incorrect.">
            <a:extLst>
              <a:ext uri="{FF2B5EF4-FFF2-40B4-BE49-F238E27FC236}">
                <a16:creationId xmlns:a16="http://schemas.microsoft.com/office/drawing/2014/main" id="{D6084676-6DE9-E68C-63CD-9FA4F3EBB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" y="6405561"/>
            <a:ext cx="2047504" cy="11509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E535FA6C-A4E7-DB99-5690-3173B409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117" y="6673850"/>
            <a:ext cx="1442724" cy="756251"/>
          </a:xfrm>
          <a:prstGeom prst="rect">
            <a:avLst/>
          </a:prstGeom>
        </p:spPr>
      </p:pic>
      <p:pic>
        <p:nvPicPr>
          <p:cNvPr id="4" name="Picture 3" descr="A logo with blue berries&#10;&#10;AI-generated content may be incorrect.">
            <a:extLst>
              <a:ext uri="{FF2B5EF4-FFF2-40B4-BE49-F238E27FC236}">
                <a16:creationId xmlns:a16="http://schemas.microsoft.com/office/drawing/2014/main" id="{493A878A-B423-4F97-67AA-3B0522E9F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6673850"/>
            <a:ext cx="1589741" cy="89362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4815335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993900" y="1568450"/>
            <a:ext cx="6208712" cy="1668463"/>
          </a:xfrm>
        </p:spPr>
        <p:txBody>
          <a:bodyPr/>
          <a:lstStyle/>
          <a:p>
            <a:r>
              <a:rPr dirty="0" err="1"/>
              <a:t>ChromaDB</a:t>
            </a:r>
            <a:r>
              <a:rPr dirty="0"/>
              <a:t> for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984128" y="3702050"/>
            <a:ext cx="6208712" cy="1517650"/>
          </a:xfrm>
        </p:spPr>
        <p:txBody>
          <a:bodyPr/>
          <a:lstStyle/>
          <a:p>
            <a:r>
              <a:rPr dirty="0"/>
              <a:t>Overview, Use Cases, and Comparison with FAISS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31900" y="806450"/>
            <a:ext cx="7950200" cy="1436687"/>
          </a:xfrm>
        </p:spPr>
        <p:txBody>
          <a:bodyPr/>
          <a:lstStyle/>
          <a:p>
            <a:r>
              <a:rPr dirty="0"/>
              <a:t>What is </a:t>
            </a:r>
            <a:r>
              <a:rPr dirty="0" err="1"/>
              <a:t>ChromaDB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36700" y="2559050"/>
            <a:ext cx="7950200" cy="3795713"/>
          </a:xfrm>
        </p:spPr>
        <p:txBody>
          <a:bodyPr/>
          <a:lstStyle/>
          <a:p>
            <a:r>
              <a:rPr dirty="0"/>
              <a:t>• Open-source embedding database.</a:t>
            </a:r>
          </a:p>
          <a:p>
            <a:r>
              <a:rPr dirty="0"/>
              <a:t>• Designed for LLM apps, Agents, and RAG pipelines.</a:t>
            </a:r>
          </a:p>
          <a:p>
            <a:r>
              <a:rPr dirty="0"/>
              <a:t>• Built-in support for metadata filtering and high-level operations.</a:t>
            </a:r>
          </a:p>
          <a:p>
            <a:r>
              <a:rPr dirty="0"/>
              <a:t>• Provides local, persistent, and cloud-backed vector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79500" y="958850"/>
            <a:ext cx="7950200" cy="1436687"/>
          </a:xfrm>
        </p:spPr>
        <p:txBody>
          <a:bodyPr/>
          <a:lstStyle/>
          <a:p>
            <a:r>
              <a:rPr dirty="0"/>
              <a:t>Why </a:t>
            </a:r>
            <a:r>
              <a:rPr dirty="0" err="1"/>
              <a:t>ChromaDB</a:t>
            </a:r>
            <a:r>
              <a:rPr dirty="0"/>
              <a:t> for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12900" y="2482850"/>
            <a:ext cx="7950200" cy="3795713"/>
          </a:xfrm>
        </p:spPr>
        <p:txBody>
          <a:bodyPr/>
          <a:lstStyle/>
          <a:p>
            <a:r>
              <a:rPr dirty="0"/>
              <a:t>• Agents require fast retrieval of relevant knowledge.</a:t>
            </a:r>
          </a:p>
          <a:p>
            <a:r>
              <a:rPr dirty="0"/>
              <a:t>• Chroma enables semantic search with embeddings.</a:t>
            </a:r>
          </a:p>
          <a:p>
            <a:r>
              <a:rPr dirty="0"/>
              <a:t>• Supports multi-agent memory structures.</a:t>
            </a:r>
          </a:p>
          <a:p>
            <a:r>
              <a:rPr dirty="0"/>
              <a:t>• Easy integration with Python + </a:t>
            </a:r>
            <a:r>
              <a:rPr dirty="0" err="1"/>
              <a:t>Ollama</a:t>
            </a:r>
            <a:r>
              <a:rPr dirty="0"/>
              <a:t>.</a:t>
            </a:r>
          </a:p>
          <a:p>
            <a:r>
              <a:rPr dirty="0"/>
              <a:t>• Real-time updates for dynamic agent memory.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27100" y="1017587"/>
            <a:ext cx="7950200" cy="1436687"/>
          </a:xfrm>
        </p:spPr>
        <p:txBody>
          <a:bodyPr/>
          <a:lstStyle/>
          <a:p>
            <a:r>
              <a:rPr dirty="0" err="1"/>
              <a:t>ChromaDB</a:t>
            </a:r>
            <a:r>
              <a:rPr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765300" y="2559050"/>
            <a:ext cx="7950200" cy="3795713"/>
          </a:xfrm>
        </p:spPr>
        <p:txBody>
          <a:bodyPr/>
          <a:lstStyle/>
          <a:p>
            <a:r>
              <a:rPr dirty="0"/>
              <a:t>• Collections → Store embeddings, documents, metadata.</a:t>
            </a:r>
          </a:p>
          <a:p>
            <a:r>
              <a:rPr dirty="0"/>
              <a:t>• Embedding Functions → OpenAI, </a:t>
            </a:r>
            <a:r>
              <a:rPr dirty="0" err="1"/>
              <a:t>Ollama</a:t>
            </a:r>
            <a:r>
              <a:rPr dirty="0"/>
              <a:t>, custom.</a:t>
            </a:r>
          </a:p>
          <a:p>
            <a:r>
              <a:rPr dirty="0"/>
              <a:t>• Persistent storage (</a:t>
            </a:r>
            <a:r>
              <a:rPr dirty="0" err="1"/>
              <a:t>SQLite+Parquet</a:t>
            </a:r>
            <a:r>
              <a:rPr dirty="0"/>
              <a:t>).</a:t>
            </a:r>
          </a:p>
          <a:p>
            <a:r>
              <a:rPr dirty="0"/>
              <a:t>• Query engine for similarity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36700" y="882650"/>
            <a:ext cx="7950200" cy="1436687"/>
          </a:xfrm>
        </p:spPr>
        <p:txBody>
          <a:bodyPr/>
          <a:lstStyle/>
          <a:p>
            <a:r>
              <a:rPr dirty="0"/>
              <a:t>What is FAISS?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765300" y="2482850"/>
            <a:ext cx="7950200" cy="3795713"/>
          </a:xfrm>
        </p:spPr>
        <p:txBody>
          <a:bodyPr/>
          <a:lstStyle/>
          <a:p>
            <a:r>
              <a:rPr dirty="0"/>
              <a:t>• Facebook AI Similarity Search.</a:t>
            </a:r>
          </a:p>
          <a:p>
            <a:r>
              <a:rPr dirty="0"/>
              <a:t>• High-performance vector search library.</a:t>
            </a:r>
          </a:p>
          <a:p>
            <a:r>
              <a:rPr dirty="0"/>
              <a:t>• Optimized for large datasets.</a:t>
            </a:r>
          </a:p>
          <a:p>
            <a:r>
              <a:rPr dirty="0"/>
              <a:t>• Supports GPU acceleration.</a:t>
            </a:r>
          </a:p>
          <a:p>
            <a:r>
              <a:rPr dirty="0"/>
              <a:t>• Library only — No built-in metadata or DB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55700" y="654050"/>
            <a:ext cx="7950200" cy="1436687"/>
          </a:xfrm>
        </p:spPr>
        <p:txBody>
          <a:bodyPr/>
          <a:lstStyle/>
          <a:p>
            <a:r>
              <a:rPr dirty="0" err="1"/>
              <a:t>ChromaDB</a:t>
            </a:r>
            <a:r>
              <a:rPr dirty="0"/>
              <a:t> vs FAISS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765300" y="2090737"/>
            <a:ext cx="7950200" cy="3795713"/>
          </a:xfrm>
        </p:spPr>
        <p:txBody>
          <a:bodyPr>
            <a:normAutofit fontScale="62500" lnSpcReduction="20000"/>
          </a:bodyPr>
          <a:lstStyle/>
          <a:p>
            <a:r>
              <a:rPr dirty="0" err="1"/>
              <a:t>ChromaDB</a:t>
            </a:r>
            <a:r>
              <a:rPr dirty="0"/>
              <a:t>:</a:t>
            </a:r>
          </a:p>
          <a:p>
            <a:r>
              <a:rPr dirty="0"/>
              <a:t>• Full vector database</a:t>
            </a:r>
          </a:p>
          <a:p>
            <a:r>
              <a:rPr dirty="0"/>
              <a:t>• Metadata filtering</a:t>
            </a:r>
          </a:p>
          <a:p>
            <a:r>
              <a:rPr dirty="0"/>
              <a:t>• Persistence out of the box</a:t>
            </a:r>
          </a:p>
          <a:p>
            <a:r>
              <a:rPr dirty="0"/>
              <a:t>• Easy for agents and RAG</a:t>
            </a:r>
          </a:p>
          <a:p>
            <a:endParaRPr dirty="0"/>
          </a:p>
          <a:p>
            <a:r>
              <a:rPr dirty="0"/>
              <a:t>FAISS:</a:t>
            </a:r>
          </a:p>
          <a:p>
            <a:r>
              <a:rPr dirty="0"/>
              <a:t>• Fast, low-level vector index</a:t>
            </a:r>
          </a:p>
          <a:p>
            <a:r>
              <a:rPr dirty="0"/>
              <a:t>• No metadata or persistence</a:t>
            </a:r>
          </a:p>
          <a:p>
            <a:r>
              <a:rPr dirty="0"/>
              <a:t>• Best for huge vector sets</a:t>
            </a:r>
          </a:p>
          <a:p>
            <a:r>
              <a:rPr dirty="0"/>
              <a:t>• Requires custom wrapper for DB functionality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27100" y="654050"/>
            <a:ext cx="7950200" cy="1436687"/>
          </a:xfrm>
        </p:spPr>
        <p:txBody>
          <a:bodyPr/>
          <a:lstStyle/>
          <a:p>
            <a:r>
              <a:rPr dirty="0"/>
              <a:t>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36700" y="2090737"/>
            <a:ext cx="7950200" cy="379571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Use </a:t>
            </a:r>
            <a:r>
              <a:rPr dirty="0" err="1"/>
              <a:t>ChromaDB</a:t>
            </a:r>
            <a:r>
              <a:rPr dirty="0"/>
              <a:t> When:</a:t>
            </a:r>
          </a:p>
          <a:p>
            <a:r>
              <a:rPr dirty="0"/>
              <a:t>• You need metadata search</a:t>
            </a:r>
          </a:p>
          <a:p>
            <a:r>
              <a:rPr dirty="0"/>
              <a:t>• You want persistent agent memory</a:t>
            </a:r>
          </a:p>
          <a:p>
            <a:r>
              <a:rPr dirty="0"/>
              <a:t>• You are building Agentic/RAG apps quickly</a:t>
            </a:r>
          </a:p>
          <a:p>
            <a:endParaRPr dirty="0"/>
          </a:p>
          <a:p>
            <a:r>
              <a:rPr dirty="0"/>
              <a:t>Use FAISS When:</a:t>
            </a:r>
          </a:p>
          <a:p>
            <a:r>
              <a:rPr dirty="0"/>
              <a:t>• You need speed at massive scale</a:t>
            </a:r>
          </a:p>
          <a:p>
            <a:r>
              <a:rPr dirty="0"/>
              <a:t>• You can manage metadata + storage externally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08100" y="806450"/>
            <a:ext cx="7950200" cy="1436687"/>
          </a:xfrm>
        </p:spPr>
        <p:txBody>
          <a:bodyPr/>
          <a:lstStyle/>
          <a:p>
            <a:r>
              <a:rPr dirty="0"/>
              <a:t>Agentic AI with </a:t>
            </a:r>
            <a:r>
              <a:rPr dirty="0" err="1"/>
              <a:t>ChromaDB</a:t>
            </a:r>
            <a:r>
              <a:rPr dirty="0"/>
              <a:t> -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60500" y="2253428"/>
            <a:ext cx="7950200" cy="3795713"/>
          </a:xfrm>
        </p:spPr>
        <p:txBody>
          <a:bodyPr/>
          <a:lstStyle/>
          <a:p>
            <a:r>
              <a:rPr dirty="0"/>
              <a:t>1. Agent generates message</a:t>
            </a:r>
          </a:p>
          <a:p>
            <a:r>
              <a:rPr dirty="0"/>
              <a:t>2. Message converted to embeddings (</a:t>
            </a:r>
            <a:r>
              <a:rPr dirty="0" err="1"/>
              <a:t>Ollama</a:t>
            </a:r>
            <a:r>
              <a:rPr dirty="0"/>
              <a:t>)</a:t>
            </a:r>
          </a:p>
          <a:p>
            <a:r>
              <a:rPr dirty="0"/>
              <a:t>3. Stored in Chroma collection</a:t>
            </a:r>
          </a:p>
          <a:p>
            <a:r>
              <a:rPr dirty="0"/>
              <a:t>4. Similar past contexts retrieved</a:t>
            </a:r>
          </a:p>
          <a:p>
            <a:r>
              <a:rPr dirty="0"/>
              <a:t>5. Agent decides next action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620</TotalTime>
  <Words>344</Words>
  <Application>Microsoft Office PowerPoint</Application>
  <PresentationFormat>Custom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Garamond</vt:lpstr>
      <vt:lpstr>Organic</vt:lpstr>
      <vt:lpstr>PowerPoint Presentation</vt:lpstr>
      <vt:lpstr>PowerPoint Presentation</vt:lpstr>
      <vt:lpstr>ChromaDB for Agentic AI</vt:lpstr>
      <vt:lpstr>What is ChromaDB?</vt:lpstr>
      <vt:lpstr>Why ChromaDB for Agentic AI?</vt:lpstr>
      <vt:lpstr>ChromaDB Architecture</vt:lpstr>
      <vt:lpstr>What is FAISS?</vt:lpstr>
      <vt:lpstr>ChromaDB vs FAISS</vt:lpstr>
      <vt:lpstr>When to Use What?</vt:lpstr>
      <vt:lpstr>Agentic AI with ChromaDB -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139</cp:revision>
  <dcterms:created xsi:type="dcterms:W3CDTF">2025-10-04T15:17:48Z</dcterms:created>
  <dcterms:modified xsi:type="dcterms:W3CDTF">2025-12-04T13:29:48Z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